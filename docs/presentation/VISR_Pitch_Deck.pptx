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378D74-5FBB-4D63-B0E5-4D2FCFB6FB92}">
  <a:tblStyle styleId="{36378D74-5FBB-4D63-B0E5-4D2FCFB6FB9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461fed89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e461fed89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e461fed89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BE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182880"/>
            <a:ext cx="118872" cy="118872"/>
          </a:xfrm>
          <a:prstGeom prst="ellipse">
            <a:avLst/>
          </a:prstGeom>
          <a:solidFill>
            <a:srgbClr val="C8C0B4">
              <a:alpha val="70196"/>
            </a:srgbClr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686800" y="274320"/>
            <a:ext cx="73152" cy="73152"/>
          </a:xfrm>
          <a:prstGeom prst="ellipse">
            <a:avLst/>
          </a:prstGeom>
          <a:solidFill>
            <a:srgbClr val="C8C0B4">
              <a:alpha val="70196"/>
            </a:srgbClr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37160" y="1920240"/>
            <a:ext cx="73152" cy="73152"/>
          </a:xfrm>
          <a:prstGeom prst="ellipse">
            <a:avLst/>
          </a:prstGeom>
          <a:solidFill>
            <a:srgbClr val="C8C0B4">
              <a:alpha val="70196"/>
            </a:srgbClr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778240" y="1645920"/>
            <a:ext cx="73152" cy="73152"/>
          </a:xfrm>
          <a:prstGeom prst="ellipse">
            <a:avLst/>
          </a:prstGeom>
          <a:solidFill>
            <a:srgbClr val="C8C0B4">
              <a:alpha val="70196"/>
            </a:srgbClr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4389120"/>
            <a:ext cx="118872" cy="118872"/>
          </a:xfrm>
          <a:prstGeom prst="ellipse">
            <a:avLst/>
          </a:prstGeom>
          <a:solidFill>
            <a:srgbClr val="C8C0B4">
              <a:alpha val="70196"/>
            </a:srgbClr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8503920" y="4206240"/>
            <a:ext cx="73152" cy="73152"/>
          </a:xfrm>
          <a:prstGeom prst="ellipse">
            <a:avLst/>
          </a:prstGeom>
          <a:solidFill>
            <a:srgbClr val="C8C0B4">
              <a:alpha val="70196"/>
            </a:srgbClr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3840480" y="137160"/>
            <a:ext cx="118872" cy="118872"/>
          </a:xfrm>
          <a:prstGeom prst="ellipse">
            <a:avLst/>
          </a:prstGeom>
          <a:solidFill>
            <a:srgbClr val="C8C0B4">
              <a:alpha val="70196"/>
            </a:srgbClr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577840" y="365760"/>
            <a:ext cx="73152" cy="73152"/>
          </a:xfrm>
          <a:prstGeom prst="ellipse">
            <a:avLst/>
          </a:prstGeom>
          <a:solidFill>
            <a:srgbClr val="C8C0B4">
              <a:alpha val="70196"/>
            </a:srgbClr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560320" y="4754880"/>
            <a:ext cx="73152" cy="73152"/>
          </a:xfrm>
          <a:prstGeom prst="ellipse">
            <a:avLst/>
          </a:prstGeom>
          <a:solidFill>
            <a:srgbClr val="C8C0B4">
              <a:alpha val="70196"/>
            </a:srgbClr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6858000" y="4846320"/>
            <a:ext cx="118872" cy="118872"/>
          </a:xfrm>
          <a:prstGeom prst="ellipse">
            <a:avLst/>
          </a:prstGeom>
          <a:solidFill>
            <a:srgbClr val="C8C0B4">
              <a:alpha val="70196"/>
            </a:srgbClr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097280" y="2834640"/>
            <a:ext cx="118872" cy="118872"/>
          </a:xfrm>
          <a:prstGeom prst="ellipse">
            <a:avLst/>
          </a:prstGeom>
          <a:solidFill>
            <a:srgbClr val="C8C0B4">
              <a:alpha val="70196"/>
            </a:srgbClr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8046720" y="3108960"/>
            <a:ext cx="118872" cy="118872"/>
          </a:xfrm>
          <a:prstGeom prst="ellipse">
            <a:avLst/>
          </a:prstGeom>
          <a:solidFill>
            <a:srgbClr val="C8C0B4">
              <a:alpha val="70196"/>
            </a:srgbClr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200400" y="4480560"/>
            <a:ext cx="73152" cy="73152"/>
          </a:xfrm>
          <a:prstGeom prst="ellipse">
            <a:avLst/>
          </a:prstGeom>
          <a:solidFill>
            <a:srgbClr val="C8C0B4">
              <a:alpha val="70196"/>
            </a:srgbClr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5394960" y="4663440"/>
            <a:ext cx="73152" cy="73152"/>
          </a:xfrm>
          <a:prstGeom prst="ellipse">
            <a:avLst/>
          </a:prstGeom>
          <a:solidFill>
            <a:srgbClr val="C8C0B4">
              <a:alpha val="70196"/>
            </a:srgbClr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1371600" y="1645920"/>
            <a:ext cx="1828800" cy="1828800"/>
          </a:xfrm>
          <a:prstGeom prst="ellipse">
            <a:avLst/>
          </a:prstGeom>
          <a:solidFill>
            <a:srgbClr val="F0EBE1"/>
          </a:solidFill>
          <a:ln cap="flat" cmpd="sng" w="15225">
            <a:solidFill>
              <a:srgbClr val="C4BA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1536192" y="1810512"/>
            <a:ext cx="1499616" cy="1499616"/>
          </a:xfrm>
          <a:prstGeom prst="ellipse">
            <a:avLst/>
          </a:prstGeom>
          <a:solidFill>
            <a:srgbClr val="F0EBE1"/>
          </a:solidFill>
          <a:ln cap="flat" cmpd="sng" w="9525">
            <a:solidFill>
              <a:srgbClr val="C4BAB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" name="Google Shape;32;p3"/>
          <p:cNvCxnSpPr/>
          <p:nvPr/>
        </p:nvCxnSpPr>
        <p:spPr>
          <a:xfrm rot="10800000">
            <a:off x="2286000" y="2084832"/>
            <a:ext cx="0" cy="451714"/>
          </a:xfrm>
          <a:prstGeom prst="straightConnector1">
            <a:avLst/>
          </a:prstGeom>
          <a:noFill/>
          <a:ln cap="flat" cmpd="sng" w="10150">
            <a:solidFill>
              <a:srgbClr val="C4BA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3"/>
          <p:cNvCxnSpPr/>
          <p:nvPr/>
        </p:nvCxnSpPr>
        <p:spPr>
          <a:xfrm flipH="1">
            <a:off x="1847088" y="2564892"/>
            <a:ext cx="416966" cy="86868"/>
          </a:xfrm>
          <a:prstGeom prst="straightConnector1">
            <a:avLst/>
          </a:prstGeom>
          <a:noFill/>
          <a:ln cap="flat" cmpd="sng" w="10150">
            <a:solidFill>
              <a:srgbClr val="C4BA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3"/>
          <p:cNvCxnSpPr/>
          <p:nvPr/>
        </p:nvCxnSpPr>
        <p:spPr>
          <a:xfrm>
            <a:off x="2286000" y="2584094"/>
            <a:ext cx="0" cy="451714"/>
          </a:xfrm>
          <a:prstGeom prst="straightConnector1">
            <a:avLst/>
          </a:prstGeom>
          <a:noFill/>
          <a:ln cap="flat" cmpd="sng" w="10150">
            <a:solidFill>
              <a:srgbClr val="C4BA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3"/>
          <p:cNvSpPr/>
          <p:nvPr/>
        </p:nvSpPr>
        <p:spPr>
          <a:xfrm>
            <a:off x="2121408" y="2395728"/>
            <a:ext cx="329184" cy="329184"/>
          </a:xfrm>
          <a:prstGeom prst="ellipse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2167128" y="1920240"/>
            <a:ext cx="237744" cy="237744"/>
          </a:xfrm>
          <a:prstGeom prst="ellipse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1682496" y="2514600"/>
            <a:ext cx="201168" cy="201168"/>
          </a:xfrm>
          <a:prstGeom prst="ellipse">
            <a:avLst/>
          </a:prstGeom>
          <a:solidFill>
            <a:srgbClr val="8A9158"/>
          </a:solidFill>
          <a:ln cap="flat" cmpd="sng" w="12700">
            <a:solidFill>
              <a:srgbClr val="8A9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2185416" y="2962656"/>
            <a:ext cx="201168" cy="201168"/>
          </a:xfrm>
          <a:prstGeom prst="ellipse">
            <a:avLst/>
          </a:prstGeom>
          <a:solidFill>
            <a:srgbClr val="7A5E9A"/>
          </a:solidFill>
          <a:ln cap="flat" cmpd="sng" w="12700">
            <a:solidFill>
              <a:srgbClr val="7A5E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2263140" y="2395728"/>
            <a:ext cx="45720" cy="45720"/>
          </a:xfrm>
          <a:prstGeom prst="ellipse">
            <a:avLst/>
          </a:prstGeom>
          <a:solidFill>
            <a:srgbClr val="C4BAB0"/>
          </a:solidFill>
          <a:ln cap="flat" cmpd="sng" w="12700">
            <a:solidFill>
              <a:srgbClr val="C4BA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2263140" y="2304288"/>
            <a:ext cx="45720" cy="45720"/>
          </a:xfrm>
          <a:prstGeom prst="ellipse">
            <a:avLst/>
          </a:prstGeom>
          <a:solidFill>
            <a:srgbClr val="C4BAB0"/>
          </a:solidFill>
          <a:ln cap="flat" cmpd="sng" w="12700">
            <a:solidFill>
              <a:srgbClr val="C4BA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2263140" y="2212848"/>
            <a:ext cx="45720" cy="45720"/>
          </a:xfrm>
          <a:prstGeom prst="ellipse">
            <a:avLst/>
          </a:prstGeom>
          <a:solidFill>
            <a:srgbClr val="C4BAB0"/>
          </a:solidFill>
          <a:ln cap="flat" cmpd="sng" w="12700">
            <a:solidFill>
              <a:srgbClr val="C4BA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3108960" y="1828800"/>
            <a:ext cx="5029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8800"/>
              <a:buFont typeface="Georgia"/>
              <a:buNone/>
            </a:pPr>
            <a:r>
              <a:rPr b="1" i="0" lang="en-US" sz="8800" u="none" cap="none" strike="noStrike">
                <a:solidFill>
                  <a:srgbClr val="7A2E4B"/>
                </a:solidFill>
                <a:latin typeface="Georgia"/>
                <a:ea typeface="Georgia"/>
                <a:cs typeface="Georgia"/>
                <a:sym typeface="Georgia"/>
              </a:rPr>
              <a:t>VISR</a:t>
            </a:r>
            <a:endParaRPr b="0" i="0" sz="8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3127248" y="315468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8F86"/>
                </a:solidFill>
                <a:latin typeface="Calibri"/>
                <a:ea typeface="Calibri"/>
                <a:cs typeface="Calibri"/>
                <a:sym typeface="Calibri"/>
              </a:rPr>
              <a:t>VISUAL INTELLIGENCE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8F86"/>
                </a:solidFill>
                <a:latin typeface="Calibri"/>
                <a:ea typeface="Calibri"/>
                <a:cs typeface="Calibri"/>
                <a:sym typeface="Calibri"/>
              </a:rPr>
              <a:t>FOR STUDENT ROADMAPPING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8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A89E"/>
                </a:solidFill>
                <a:latin typeface="Calibri"/>
                <a:ea typeface="Calibri"/>
                <a:cs typeface="Calibri"/>
                <a:sym typeface="Calibri"/>
              </a:rPr>
              <a:t>M V P  ·  C U R S O R  H A C K A T H O 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5BCA8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>
            <a:off x="274320" y="18288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8686800" y="27432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137160" y="192024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8778240" y="164592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57200" y="438912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8503920" y="420624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3840480" y="13716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5577840" y="36576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2560320" y="475488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6858000" y="484632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1097280" y="283464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8046720" y="310896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3200400" y="448056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5394960" y="466344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365760" y="47731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180"/>
                </a:solidFill>
                <a:latin typeface="Calibri"/>
                <a:ea typeface="Calibri"/>
                <a:cs typeface="Calibri"/>
                <a:sym typeface="Calibri"/>
              </a:rPr>
              <a:t>P R O B L E 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365760" y="2743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F0EBE1"/>
                </a:solidFill>
                <a:latin typeface="Georgia"/>
                <a:ea typeface="Georgia"/>
                <a:cs typeface="Georgia"/>
                <a:sym typeface="Georgia"/>
              </a:rPr>
              <a:t>The Problem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Ambitious students are not unproductive — they are unstrategic.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274320" y="1417320"/>
            <a:ext cx="2560320" cy="2560320"/>
          </a:xfrm>
          <a:prstGeom prst="ellipse">
            <a:avLst/>
          </a:prstGeom>
          <a:solidFill>
            <a:srgbClr val="F0EBE1"/>
          </a:solidFill>
          <a:ln cap="flat" cmpd="sng" w="1905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274320" y="201168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7A2E4B"/>
                </a:solidFill>
                <a:latin typeface="Georgia"/>
                <a:ea typeface="Georgia"/>
                <a:cs typeface="Georgia"/>
                <a:sym typeface="Georgia"/>
              </a:rPr>
              <a:t>80%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274320" y="2926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70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7060"/>
                </a:solidFill>
                <a:latin typeface="Calibri"/>
                <a:ea typeface="Calibri"/>
                <a:cs typeface="Calibri"/>
                <a:sym typeface="Calibri"/>
              </a:rPr>
              <a:t>of students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70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7060"/>
                </a:solidFill>
                <a:latin typeface="Calibri"/>
                <a:ea typeface="Calibri"/>
                <a:cs typeface="Calibri"/>
                <a:sym typeface="Calibri"/>
              </a:rPr>
              <a:t>procrastinate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70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7060"/>
                </a:solidFill>
                <a:latin typeface="Calibri"/>
                <a:ea typeface="Calibri"/>
                <a:cs typeface="Calibri"/>
                <a:sym typeface="Calibri"/>
              </a:rPr>
              <a:t>due to poor planning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108960" y="1417320"/>
            <a:ext cx="5669280" cy="822960"/>
          </a:xfrm>
          <a:prstGeom prst="rect">
            <a:avLst/>
          </a:prstGeom>
          <a:solidFill>
            <a:srgbClr val="C8CEBC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108960" y="1417320"/>
            <a:ext cx="54864" cy="822960"/>
          </a:xfrm>
          <a:prstGeom prst="rect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3273552" y="146304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5 courses, a job, 2 clubs, side projects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3273552" y="1764792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8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06850"/>
                </a:solidFill>
                <a:latin typeface="Calibri"/>
                <a:ea typeface="Calibri"/>
                <a:cs typeface="Calibri"/>
                <a:sym typeface="Calibri"/>
              </a:rPr>
              <a:t>Every task feels equally urgent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108960" y="2350008"/>
            <a:ext cx="5669280" cy="822960"/>
          </a:xfrm>
          <a:prstGeom prst="rect">
            <a:avLst/>
          </a:prstGeom>
          <a:solidFill>
            <a:srgbClr val="C8CEBC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3108960" y="2350008"/>
            <a:ext cx="54864" cy="822960"/>
          </a:xfrm>
          <a:prstGeom prst="rect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3273552" y="2395728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Knows what they should 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273552" y="269748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8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06850"/>
                </a:solidFill>
                <a:latin typeface="Calibri"/>
                <a:ea typeface="Calibri"/>
                <a:cs typeface="Calibri"/>
                <a:sym typeface="Calibri"/>
              </a:rPr>
              <a:t>Never turns into scheduled 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8960" y="3282696"/>
            <a:ext cx="5669280" cy="822960"/>
          </a:xfrm>
          <a:prstGeom prst="rect">
            <a:avLst/>
          </a:prstGeom>
          <a:solidFill>
            <a:srgbClr val="C8CEBC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108960" y="3282696"/>
            <a:ext cx="54864" cy="822960"/>
          </a:xfrm>
          <a:prstGeom prst="rect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3273552" y="3328416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Uses Notion, Calendar, to-do lists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273552" y="3630168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8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06850"/>
                </a:solidFill>
                <a:latin typeface="Calibri"/>
                <a:ea typeface="Calibri"/>
                <a:cs typeface="Calibri"/>
                <a:sym typeface="Calibri"/>
              </a:rPr>
              <a:t>Still scattered — no strategy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BE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/>
          <p:nvPr/>
        </p:nvSpPr>
        <p:spPr>
          <a:xfrm>
            <a:off x="274320" y="18288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8686800" y="27432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137160" y="192024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8778240" y="164592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8503920" y="420624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3840480" y="13716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5577840" y="36576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2560320" y="475488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858000" y="484632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1097280" y="283464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8046720" y="310896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3200400" y="448056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5394960" y="466344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365760" y="47731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8F86"/>
                </a:solidFill>
                <a:latin typeface="Calibri"/>
                <a:ea typeface="Calibri"/>
                <a:cs typeface="Calibri"/>
                <a:sym typeface="Calibri"/>
              </a:rPr>
              <a:t>P R O B L E M - S O L U T I O N  F I 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3600"/>
              <a:buFont typeface="Georgia"/>
              <a:buNone/>
            </a:pPr>
            <a:r>
              <a:rPr b="1" i="0" lang="en-US" sz="3300" u="none" cap="none" strike="noStrike">
                <a:solidFill>
                  <a:srgbClr val="9A7060"/>
                </a:solidFill>
                <a:latin typeface="Georgia"/>
                <a:ea typeface="Georgia"/>
                <a:cs typeface="Georgia"/>
                <a:sym typeface="Georgia"/>
              </a:rPr>
              <a:t>Every tool solves the wrong problem.</a:t>
            </a:r>
            <a:endParaRPr b="0" i="0" sz="3300" u="none" cap="none" strike="noStrike">
              <a:solidFill>
                <a:srgbClr val="9A7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A8F86"/>
                </a:solidFill>
                <a:latin typeface="Calibri"/>
                <a:ea typeface="Calibri"/>
                <a:cs typeface="Calibri"/>
                <a:sym typeface="Calibri"/>
              </a:rPr>
              <a:t>Current tools organize. None of them decide.</a:t>
            </a:r>
            <a:endParaRPr b="0" i="0" sz="1400" u="none" cap="none" strike="noStrike">
              <a:solidFill>
                <a:srgbClr val="9A8F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4" name="Google Shape;104;p5"/>
          <p:cNvGraphicFramePr/>
          <p:nvPr/>
        </p:nvGraphicFramePr>
        <p:xfrm>
          <a:off x="36576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{36378D74-5FBB-4D63-B0E5-4D2FCFB6FB92}</a:tableStyleId>
              </a:tblPr>
              <a:tblGrid>
                <a:gridCol w="2194550"/>
                <a:gridCol w="2743200"/>
                <a:gridCol w="3474725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BE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0EB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 type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2E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BE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0EB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Helps with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2E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BE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0EB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piece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2E4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 managers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0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Tracking tasks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0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Which tasks deserve to exist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0B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Calendars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 blocks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Strategic tradeoffs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Notion-style planners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0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Organizing notes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0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Opinionated cuts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0B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chatbots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Suggestions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Living plan + follow-through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2E4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A2E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0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2E4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A2E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of the above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0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2E4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A2E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Built in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E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0B4"/>
                    </a:solidFill>
                  </a:tcPr>
                </a:tc>
              </a:tr>
            </a:tbl>
          </a:graphicData>
        </a:graphic>
      </p:graphicFrame>
      <p:sp>
        <p:nvSpPr>
          <p:cNvPr id="105" name="Google Shape;105;p5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VISR starts one step earlier: what matters, what is blocking it, and how does that become this week?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5BCA8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274320" y="18288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8686800" y="27432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137160" y="192024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8778240" y="164592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8503920" y="420624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3840480" y="13716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5577840" y="36576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2560320" y="475488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6858000" y="484632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1097280" y="283464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8046720" y="310896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3200400" y="448056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5394960" y="466344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365760" y="47731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180"/>
                </a:solidFill>
                <a:latin typeface="Calibri"/>
                <a:ea typeface="Calibri"/>
                <a:cs typeface="Calibri"/>
                <a:sym typeface="Calibri"/>
              </a:rPr>
              <a:t>S O L U T I O 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0EBE1"/>
                </a:solidFill>
                <a:latin typeface="Georgia"/>
                <a:ea typeface="Georgia"/>
                <a:cs typeface="Georgia"/>
                <a:sym typeface="Georgia"/>
              </a:rPr>
              <a:t>What is VISR?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Not a task manager. Not a chatbot. A strategy co-pilot with an execution layer.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274320" y="1280160"/>
            <a:ext cx="4114800" cy="347472"/>
          </a:xfrm>
          <a:prstGeom prst="rect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274320" y="128016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PATHWISE STRATEGY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572000" y="1280160"/>
            <a:ext cx="4297680" cy="347472"/>
          </a:xfrm>
          <a:prstGeom prst="rect">
            <a:avLst/>
          </a:prstGeom>
          <a:solidFill>
            <a:srgbClr val="4A9E8A"/>
          </a:solidFill>
          <a:ln cap="flat" cmpd="sng" w="1270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572000" y="128016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STRAIGHTNOODLE EXECUTION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74320" y="1691640"/>
            <a:ext cx="4114800" cy="548640"/>
          </a:xfrm>
          <a:prstGeom prst="rect">
            <a:avLst/>
          </a:prstGeom>
          <a:solidFill>
            <a:srgbClr val="C8CEBC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347472" y="1801368"/>
            <a:ext cx="292608" cy="292608"/>
          </a:xfrm>
          <a:prstGeom prst="ellipse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347472" y="180136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713232" y="1728216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Define the destination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713232" y="196596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Your goal, current stage, and what success looks like.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274320" y="2313432"/>
            <a:ext cx="4114800" cy="548640"/>
          </a:xfrm>
          <a:prstGeom prst="rect">
            <a:avLst/>
          </a:prstGeom>
          <a:solidFill>
            <a:srgbClr val="C8CEBC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347472" y="2423160"/>
            <a:ext cx="292608" cy="292608"/>
          </a:xfrm>
          <a:prstGeom prst="ellipse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347472" y="242316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713232" y="2350008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Map the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13232" y="258775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Strategy Web — goal at center, pillars orbiting 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274320" y="2935224"/>
            <a:ext cx="4114800" cy="548640"/>
          </a:xfrm>
          <a:prstGeom prst="rect">
            <a:avLst/>
          </a:prstGeom>
          <a:solidFill>
            <a:srgbClr val="C8CEBC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347472" y="3044952"/>
            <a:ext cx="292608" cy="292608"/>
          </a:xfrm>
          <a:prstGeom prst="ellipse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347472" y="30449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713232" y="2971800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Name the bottleneck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713232" y="3209544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The one thing blocking everything else.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274320" y="3557016"/>
            <a:ext cx="4114800" cy="548640"/>
          </a:xfrm>
          <a:prstGeom prst="rect">
            <a:avLst/>
          </a:prstGeom>
          <a:solidFill>
            <a:srgbClr val="C8CEBC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347472" y="3666744"/>
            <a:ext cx="292608" cy="292608"/>
          </a:xfrm>
          <a:prstGeom prst="ellipse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347472" y="36667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713232" y="3593592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Cut distractions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713232" y="383133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Cut / Defer / Keep / Double Down — with reasons.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274320" y="4178808"/>
            <a:ext cx="4114800" cy="548640"/>
          </a:xfrm>
          <a:prstGeom prst="rect">
            <a:avLst/>
          </a:prstGeom>
          <a:solidFill>
            <a:srgbClr val="C8CEBC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347472" y="4288536"/>
            <a:ext cx="292608" cy="292608"/>
          </a:xfrm>
          <a:prstGeom prst="ellipse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347472" y="428853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713232" y="4215384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Evaluate opportunities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713232" y="445312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Any new offer scored against your live plan.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572000" y="1691640"/>
            <a:ext cx="4297680" cy="548640"/>
          </a:xfrm>
          <a:prstGeom prst="rect">
            <a:avLst/>
          </a:prstGeom>
          <a:solidFill>
            <a:srgbClr val="C8CEBC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4645152" y="1801368"/>
            <a:ext cx="292608" cy="292608"/>
          </a:xfrm>
          <a:prstGeom prst="ellipse">
            <a:avLst/>
          </a:prstGeom>
          <a:solidFill>
            <a:srgbClr val="4A9E8A"/>
          </a:solidFill>
          <a:ln cap="flat" cmpd="sng" w="1270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4645152" y="180136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010912" y="172821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E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A6E5E"/>
                </a:solidFill>
                <a:latin typeface="Calibri"/>
                <a:ea typeface="Calibri"/>
                <a:cs typeface="Calibri"/>
                <a:sym typeface="Calibri"/>
              </a:rPr>
              <a:t>Turn priorities into daily 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010912" y="196596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Flowgram — today's schedule, notes, completion.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572000" y="2313432"/>
            <a:ext cx="4297680" cy="548640"/>
          </a:xfrm>
          <a:prstGeom prst="rect">
            <a:avLst/>
          </a:prstGeom>
          <a:solidFill>
            <a:srgbClr val="C8CEBC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645152" y="2423160"/>
            <a:ext cx="292608" cy="292608"/>
          </a:xfrm>
          <a:prstGeom prst="ellipse">
            <a:avLst/>
          </a:prstGeom>
          <a:solidFill>
            <a:srgbClr val="4A9E8A"/>
          </a:solidFill>
          <a:ln cap="flat" cmpd="sng" w="1270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4645152" y="242316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010912" y="2350008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E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A6E5E"/>
                </a:solidFill>
                <a:latin typeface="Calibri"/>
                <a:ea typeface="Calibri"/>
                <a:cs typeface="Calibri"/>
                <a:sym typeface="Calibri"/>
              </a:rPr>
              <a:t>See the full week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010912" y="258775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Week View — calendar-style scan of what's ahead.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572000" y="2935224"/>
            <a:ext cx="4297680" cy="548640"/>
          </a:xfrm>
          <a:prstGeom prst="rect">
            <a:avLst/>
          </a:prstGeom>
          <a:solidFill>
            <a:srgbClr val="C8CEBC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4645152" y="3044952"/>
            <a:ext cx="292608" cy="292608"/>
          </a:xfrm>
          <a:prstGeom prst="ellipse">
            <a:avLst/>
          </a:prstGeom>
          <a:solidFill>
            <a:srgbClr val="4A9E8A"/>
          </a:solidFill>
          <a:ln cap="flat" cmpd="sng" w="1270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4645152" y="30449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010912" y="2971800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E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A6E5E"/>
                </a:solidFill>
                <a:latin typeface="Calibri"/>
                <a:ea typeface="Calibri"/>
                <a:cs typeface="Calibri"/>
                <a:sym typeface="Calibri"/>
              </a:rPr>
              <a:t>Capture and recover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010912" y="3209544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Notes Hub — unresolved items and follow-ups.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572000" y="3557016"/>
            <a:ext cx="4297680" cy="548640"/>
          </a:xfrm>
          <a:prstGeom prst="rect">
            <a:avLst/>
          </a:prstGeom>
          <a:solidFill>
            <a:srgbClr val="C8CEBC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4645152" y="3666744"/>
            <a:ext cx="292608" cy="292608"/>
          </a:xfrm>
          <a:prstGeom prst="ellipse">
            <a:avLst/>
          </a:prstGeom>
          <a:solidFill>
            <a:srgbClr val="4A9E8A"/>
          </a:solidFill>
          <a:ln cap="flat" cmpd="sng" w="1270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4645152" y="36667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010912" y="3593592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E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A6E5E"/>
                </a:solidFill>
                <a:latin typeface="Calibri"/>
                <a:ea typeface="Calibri"/>
                <a:cs typeface="Calibri"/>
                <a:sym typeface="Calibri"/>
              </a:rPr>
              <a:t>Find breathing room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010912" y="3831336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Free-time finder — locate open slots and fill them.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572000" y="4178808"/>
            <a:ext cx="4297680" cy="548640"/>
          </a:xfrm>
          <a:prstGeom prst="rect">
            <a:avLst/>
          </a:prstGeom>
          <a:solidFill>
            <a:srgbClr val="C8CEBC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4645152" y="4288536"/>
            <a:ext cx="292608" cy="292608"/>
          </a:xfrm>
          <a:prstGeom prst="ellipse">
            <a:avLst/>
          </a:prstGeom>
          <a:solidFill>
            <a:srgbClr val="4A9E8A"/>
          </a:solidFill>
          <a:ln cap="flat" cmpd="sng" w="1270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4645152" y="428853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5010912" y="4215384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E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A6E5E"/>
                </a:solidFill>
                <a:latin typeface="Calibri"/>
                <a:ea typeface="Calibri"/>
                <a:cs typeface="Calibri"/>
                <a:sym typeface="Calibri"/>
              </a:rPr>
              <a:t>Handle the unexpected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010912" y="445312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End-of-day reschedule — recover unfinished work.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BE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/>
          <p:nvPr/>
        </p:nvSpPr>
        <p:spPr>
          <a:xfrm>
            <a:off x="274320" y="18288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8686800" y="27432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137160" y="192024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8778240" y="164592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8503920" y="420624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3840480" y="13716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5577840" y="36576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2560320" y="475488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6858000" y="484632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1097280" y="283464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8046720" y="310896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3200400" y="448056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5394960" y="466344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365760" y="47731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8F86"/>
                </a:solidFill>
                <a:latin typeface="Calibri"/>
                <a:ea typeface="Calibri"/>
                <a:cs typeface="Calibri"/>
                <a:sym typeface="Calibri"/>
              </a:rPr>
              <a:t>S T R A T E G Y  W E 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9A7060"/>
                </a:solidFill>
                <a:latin typeface="Georgia"/>
                <a:ea typeface="Georgia"/>
                <a:cs typeface="Georgia"/>
                <a:sym typeface="Georgia"/>
              </a:rPr>
              <a:t>The Constellation Map</a:t>
            </a:r>
            <a:endParaRPr b="0" i="0" sz="4000" u="none" cap="none" strike="noStrike">
              <a:solidFill>
                <a:srgbClr val="9A7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Tap any node to reveal what it connects to.</a:t>
            </a:r>
            <a:endParaRPr b="0" i="0" sz="1300" u="none" cap="none" strike="noStrike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3474720" y="1600200"/>
            <a:ext cx="3108960" cy="2651760"/>
          </a:xfrm>
          <a:prstGeom prst="ellipse">
            <a:avLst/>
          </a:prstGeom>
          <a:solidFill>
            <a:srgbClr val="F0EBE1">
              <a:alpha val="20000"/>
            </a:srgbClr>
          </a:solidFill>
          <a:ln cap="flat" cmpd="sng" w="1015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4023360" y="2057400"/>
            <a:ext cx="2011680" cy="1737360"/>
          </a:xfrm>
          <a:prstGeom prst="ellipse">
            <a:avLst/>
          </a:prstGeom>
          <a:solidFill>
            <a:srgbClr val="C8C0B4">
              <a:alpha val="40000"/>
            </a:srgbClr>
          </a:solidFill>
          <a:ln cap="flat" cmpd="sng" w="9525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4526280" y="2468880"/>
            <a:ext cx="1005840" cy="914400"/>
          </a:xfrm>
          <a:prstGeom prst="ellipse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4526280" y="246888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7"/>
          <p:cNvCxnSpPr/>
          <p:nvPr/>
        </p:nvCxnSpPr>
        <p:spPr>
          <a:xfrm>
            <a:off x="4754880" y="1508760"/>
            <a:ext cx="274320" cy="1417320"/>
          </a:xfrm>
          <a:prstGeom prst="straightConnector1">
            <a:avLst/>
          </a:prstGeom>
          <a:noFill/>
          <a:ln cap="flat" cmpd="sng" w="9525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7"/>
          <p:cNvCxnSpPr/>
          <p:nvPr/>
        </p:nvCxnSpPr>
        <p:spPr>
          <a:xfrm flipH="1">
            <a:off x="5029200" y="1828800"/>
            <a:ext cx="1828800" cy="1097280"/>
          </a:xfrm>
          <a:prstGeom prst="straightConnector1">
            <a:avLst/>
          </a:prstGeom>
          <a:noFill/>
          <a:ln cap="flat" cmpd="sng" w="9525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7"/>
          <p:cNvCxnSpPr/>
          <p:nvPr/>
        </p:nvCxnSpPr>
        <p:spPr>
          <a:xfrm rot="10800000">
            <a:off x="5029200" y="2926080"/>
            <a:ext cx="1993392" cy="530352"/>
          </a:xfrm>
          <a:prstGeom prst="straightConnector1">
            <a:avLst/>
          </a:prstGeom>
          <a:noFill/>
          <a:ln cap="flat" cmpd="sng" w="9525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p7"/>
          <p:cNvCxnSpPr/>
          <p:nvPr/>
        </p:nvCxnSpPr>
        <p:spPr>
          <a:xfrm flipH="1" rot="10800000">
            <a:off x="2633472" y="2926080"/>
            <a:ext cx="2395728" cy="438912"/>
          </a:xfrm>
          <a:prstGeom prst="straightConnector1">
            <a:avLst/>
          </a:prstGeom>
          <a:noFill/>
          <a:ln cap="flat" cmpd="sng" w="9525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7"/>
          <p:cNvCxnSpPr/>
          <p:nvPr/>
        </p:nvCxnSpPr>
        <p:spPr>
          <a:xfrm>
            <a:off x="2834640" y="1737360"/>
            <a:ext cx="2194560" cy="1188720"/>
          </a:xfrm>
          <a:prstGeom prst="straightConnector1">
            <a:avLst/>
          </a:prstGeom>
          <a:noFill/>
          <a:ln cap="flat" cmpd="sng" w="9525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7"/>
          <p:cNvCxnSpPr/>
          <p:nvPr/>
        </p:nvCxnSpPr>
        <p:spPr>
          <a:xfrm flipH="1" rot="10800000">
            <a:off x="4919472" y="2926080"/>
            <a:ext cx="109728" cy="1490472"/>
          </a:xfrm>
          <a:prstGeom prst="straightConnector1">
            <a:avLst/>
          </a:prstGeom>
          <a:noFill/>
          <a:ln cap="flat" cmpd="sng" w="9525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7"/>
          <p:cNvSpPr/>
          <p:nvPr/>
        </p:nvSpPr>
        <p:spPr>
          <a:xfrm>
            <a:off x="4434840" y="1188720"/>
            <a:ext cx="640080" cy="640080"/>
          </a:xfrm>
          <a:prstGeom prst="ellipse">
            <a:avLst/>
          </a:prstGeom>
          <a:solidFill>
            <a:srgbClr val="7A2E4B"/>
          </a:solidFill>
          <a:ln cap="flat" cmpd="sng" w="9525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4251960" y="188366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Skill Signal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583680" y="1554480"/>
            <a:ext cx="548640" cy="548640"/>
          </a:xfrm>
          <a:prstGeom prst="ellipse">
            <a:avLst/>
          </a:prstGeom>
          <a:solidFill>
            <a:srgbClr val="D6DBCE"/>
          </a:solidFill>
          <a:ln cap="flat" cmpd="sng" w="9525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400800" y="215798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Interview Prep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766560" y="3200400"/>
            <a:ext cx="512064" cy="512064"/>
          </a:xfrm>
          <a:prstGeom prst="ellipse">
            <a:avLst/>
          </a:prstGeom>
          <a:solidFill>
            <a:srgbClr val="D6DBCE"/>
          </a:solidFill>
          <a:ln cap="flat" cmpd="sng" w="9525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6583680" y="3767328"/>
            <a:ext cx="8778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2377440" y="3108960"/>
            <a:ext cx="512064" cy="512064"/>
          </a:xfrm>
          <a:prstGeom prst="ellipse">
            <a:avLst/>
          </a:prstGeom>
          <a:solidFill>
            <a:srgbClr val="D6DBCE"/>
          </a:solidFill>
          <a:ln cap="flat" cmpd="sng" w="9525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2194560" y="3675888"/>
            <a:ext cx="8778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Recruiting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2560320" y="1463040"/>
            <a:ext cx="548640" cy="548640"/>
          </a:xfrm>
          <a:prstGeom prst="ellipse">
            <a:avLst/>
          </a:prstGeom>
          <a:solidFill>
            <a:srgbClr val="D6DBCE"/>
          </a:solidFill>
          <a:ln cap="flat" cmpd="sng" w="9525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2377440" y="206654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Academics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663440" y="4160520"/>
            <a:ext cx="512064" cy="512064"/>
          </a:xfrm>
          <a:prstGeom prst="ellipse">
            <a:avLst/>
          </a:prstGeom>
          <a:solidFill>
            <a:srgbClr val="B0A8C8"/>
          </a:solidFill>
          <a:ln cap="flat" cmpd="sng" w="9525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4480560" y="4727448"/>
            <a:ext cx="8778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Focus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4526280" y="2468880"/>
            <a:ext cx="1005840" cy="914400"/>
          </a:xfrm>
          <a:prstGeom prst="ellipse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4526280" y="246888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274320" y="4434840"/>
            <a:ext cx="2926080" cy="347472"/>
          </a:xfrm>
          <a:prstGeom prst="rect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274320" y="443484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⚠  Bottleneck · Skill Signal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200400" y="477316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○ Action node   ● Pillar node   ● Goal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5BCA8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"/>
          <p:cNvSpPr/>
          <p:nvPr/>
        </p:nvSpPr>
        <p:spPr>
          <a:xfrm>
            <a:off x="274320" y="18288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8686800" y="27432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137160" y="192024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8778240" y="164592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457200" y="438912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8503920" y="420624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3840480" y="13716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5577840" y="36576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2560320" y="475488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6858000" y="484632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1097280" y="283464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8046720" y="310896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3200400" y="448056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5394960" y="466344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365760" y="47731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180"/>
                </a:solidFill>
                <a:latin typeface="Calibri"/>
                <a:ea typeface="Calibri"/>
                <a:cs typeface="Calibri"/>
                <a:sym typeface="Calibri"/>
              </a:rPr>
              <a:t>A N A L Y S I S  L A Y E 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0EBE1"/>
                </a:solidFill>
                <a:latin typeface="Georgia"/>
                <a:ea typeface="Georgia"/>
                <a:cs typeface="Georgia"/>
                <a:sym typeface="Georgia"/>
              </a:rPr>
              <a:t>What the map means.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The dashboard explains the strategy — so students don't have to interpret it alone.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274320" y="1325880"/>
            <a:ext cx="2286000" cy="2286000"/>
          </a:xfrm>
          <a:prstGeom prst="ellipse">
            <a:avLst/>
          </a:prstGeom>
          <a:solidFill>
            <a:srgbClr val="F0EBE1"/>
          </a:solidFill>
          <a:ln cap="flat" cmpd="sng" w="1905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274320" y="18745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7A2E4B"/>
                </a:solidFill>
                <a:latin typeface="Georgia"/>
                <a:ea typeface="Georgia"/>
                <a:cs typeface="Georgia"/>
                <a:sym typeface="Georgia"/>
              </a:rPr>
              <a:t>64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274320" y="26974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70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7060"/>
                </a:solidFill>
                <a:latin typeface="Calibri"/>
                <a:ea typeface="Calibri"/>
                <a:cs typeface="Calibri"/>
                <a:sym typeface="Calibri"/>
              </a:rPr>
              <a:t>alignment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70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7060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2834640" y="1325880"/>
            <a:ext cx="2834640" cy="914400"/>
          </a:xfrm>
          <a:prstGeom prst="rect">
            <a:avLst/>
          </a:prstGeom>
          <a:solidFill>
            <a:srgbClr val="C8CEBC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2834640" y="1325880"/>
            <a:ext cx="54864" cy="914400"/>
          </a:xfrm>
          <a:prstGeom prst="rect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2944368" y="1399032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Destination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2944368" y="169164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Software Engineering Internship — Stage: Skill Signal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852160" y="1325880"/>
            <a:ext cx="2834640" cy="914400"/>
          </a:xfrm>
          <a:prstGeom prst="rect">
            <a:avLst/>
          </a:prstGeom>
          <a:solidFill>
            <a:srgbClr val="C8CEBC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5852160" y="1325880"/>
            <a:ext cx="54864" cy="914400"/>
          </a:xfrm>
          <a:prstGeom prst="rect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5961888" y="1399032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Main Bottleneck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5961888" y="169164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No shipped project. GitHub is empty. Everything else is noise.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2834640" y="2377440"/>
            <a:ext cx="2834640" cy="914400"/>
          </a:xfrm>
          <a:prstGeom prst="rect">
            <a:avLst/>
          </a:prstGeom>
          <a:solidFill>
            <a:srgbClr val="C8CEBC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2834640" y="2377440"/>
            <a:ext cx="54864" cy="914400"/>
          </a:xfrm>
          <a:prstGeom prst="rect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2944368" y="2450592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Next 7 Days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2944368" y="274320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5 specific actions tied to the bottleneck — not a generic list.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852160" y="2377440"/>
            <a:ext cx="2834640" cy="914400"/>
          </a:xfrm>
          <a:prstGeom prst="rect">
            <a:avLst/>
          </a:prstGeom>
          <a:solidFill>
            <a:srgbClr val="C8CEBC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5852160" y="2377440"/>
            <a:ext cx="54864" cy="914400"/>
          </a:xfrm>
          <a:prstGeom prst="rect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5961888" y="2450592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Cut 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961888" y="274320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Cut / Defer / Keep / Double Down — every item has a reason.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2834640" y="3429000"/>
            <a:ext cx="2834640" cy="914400"/>
          </a:xfrm>
          <a:prstGeom prst="rect">
            <a:avLst/>
          </a:prstGeom>
          <a:solidFill>
            <a:srgbClr val="C8CEBC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2834640" y="3429000"/>
            <a:ext cx="54864" cy="914400"/>
          </a:xfrm>
          <a:prstGeom prst="rect">
            <a:avLst/>
          </a:prstGeom>
          <a:solidFill>
            <a:srgbClr val="4A9E8A"/>
          </a:solidFill>
          <a:ln cap="flat" cmpd="sng" w="1270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2944368" y="3502152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Risks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2944368" y="379476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Part-time hours + second club are flagged as attention needed.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5852160" y="3429000"/>
            <a:ext cx="2834640" cy="914400"/>
          </a:xfrm>
          <a:prstGeom prst="rect">
            <a:avLst/>
          </a:prstGeom>
          <a:solidFill>
            <a:srgbClr val="C8CEBC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5852160" y="3429000"/>
            <a:ext cx="54864" cy="914400"/>
          </a:xfrm>
          <a:prstGeom prst="rect">
            <a:avLst/>
          </a:prstGeom>
          <a:solidFill>
            <a:srgbClr val="4A9E8A"/>
          </a:solidFill>
          <a:ln cap="flat" cmpd="sng" w="1270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5961888" y="3502152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Today Focus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5961888" y="379476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Top 3 strategy actions surfaced as an overlay each morning.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BE1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"/>
          <p:cNvSpPr/>
          <p:nvPr/>
        </p:nvSpPr>
        <p:spPr>
          <a:xfrm>
            <a:off x="274320" y="18288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8686800" y="27432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137160" y="192024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8778240" y="164592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457200" y="438912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8503920" y="420624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3840480" y="13716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5577840" y="36576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2560320" y="475488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6858000" y="484632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1097280" y="283464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8046720" y="310896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3200400" y="448056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5394960" y="466344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365760" y="47731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8F86"/>
                </a:solidFill>
                <a:latin typeface="Calibri"/>
                <a:ea typeface="Calibri"/>
                <a:cs typeface="Calibri"/>
                <a:sym typeface="Calibri"/>
              </a:rPr>
              <a:t>S T R A I G H T N O O D L E  E X E C U T I O 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9A7060"/>
                </a:solidFill>
                <a:latin typeface="Georgia"/>
                <a:ea typeface="Georgia"/>
                <a:cs typeface="Georgia"/>
                <a:sym typeface="Georgia"/>
              </a:rPr>
              <a:t>Flowgram</a:t>
            </a:r>
            <a:endParaRPr b="0" i="0" sz="4400" u="none" cap="none" strike="noStrike">
              <a:solidFill>
                <a:srgbClr val="9A7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A8F86"/>
                </a:solidFill>
                <a:latin typeface="Calibri"/>
                <a:ea typeface="Calibri"/>
                <a:cs typeface="Calibri"/>
                <a:sym typeface="Calibri"/>
              </a:rPr>
              <a:t>Strategy decides what matters. Flowgram makes it executable.</a:t>
            </a:r>
            <a:endParaRPr b="0" i="0" sz="1300" u="none" cap="none" strike="noStrike">
              <a:solidFill>
                <a:srgbClr val="9A8F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274320" y="1280160"/>
            <a:ext cx="4114800" cy="3246120"/>
          </a:xfrm>
          <a:prstGeom prst="rect">
            <a:avLst/>
          </a:prstGeom>
          <a:solidFill>
            <a:srgbClr val="C8C0B4"/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365760" y="135331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A8F86"/>
                </a:solidFill>
                <a:latin typeface="Calibri"/>
                <a:ea typeface="Calibri"/>
                <a:cs typeface="Calibri"/>
                <a:sym typeface="Calibri"/>
              </a:rPr>
              <a:t>Strategy says  →  Straightnoodle does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411480" y="16916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E6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Improve skill signal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411480" y="196596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→  Ship one project, push to GitHub today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411480" y="26060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E6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Prepare for interviews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411480" y="288036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→  6 LeetCode problems scheduled this week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411480" y="35204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E6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Network more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411480" y="379476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→  Message 2 upper-year CS students — Tuesday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4572000" y="1280160"/>
            <a:ext cx="4297680" cy="475488"/>
          </a:xfrm>
          <a:prstGeom prst="rect">
            <a:avLst/>
          </a:prstGeom>
          <a:solidFill>
            <a:srgbClr val="C8C0B4"/>
          </a:solidFill>
          <a:ln cap="flat" cmpd="sng" w="9525">
            <a:solidFill>
              <a:srgbClr val="B0B8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4663440" y="1316736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Flowgram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4663440" y="1517904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Today's schedule with notes, completion, items, weather, and routines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4572000" y="1819656"/>
            <a:ext cx="4297680" cy="475488"/>
          </a:xfrm>
          <a:prstGeom prst="rect">
            <a:avLst/>
          </a:prstGeom>
          <a:solidFill>
            <a:srgbClr val="C8C0B4"/>
          </a:solidFill>
          <a:ln cap="flat" cmpd="sng" w="9525">
            <a:solidFill>
              <a:srgbClr val="B0B8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4663440" y="185623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Week 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4663440" y="2057400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Calendar-style scan of the full week ahead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4572000" y="2359152"/>
            <a:ext cx="4297680" cy="475488"/>
          </a:xfrm>
          <a:prstGeom prst="rect">
            <a:avLst/>
          </a:prstGeom>
          <a:solidFill>
            <a:srgbClr val="C8C0B4"/>
          </a:solidFill>
          <a:ln cap="flat" cmpd="sng" w="9525">
            <a:solidFill>
              <a:srgbClr val="B0B8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4663440" y="2395728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Notes 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4663440" y="2596896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Unresolved items and follow-ups in one place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4572000" y="2898648"/>
            <a:ext cx="4297680" cy="475488"/>
          </a:xfrm>
          <a:prstGeom prst="rect">
            <a:avLst/>
          </a:prstGeom>
          <a:solidFill>
            <a:srgbClr val="C8C0B4"/>
          </a:solidFill>
          <a:ln cap="flat" cmpd="sng" w="9525">
            <a:solidFill>
              <a:srgbClr val="B0B8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4663440" y="2935224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Free-time Finder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4663440" y="313639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Locate open slots and schedule into them instantly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4572000" y="3438144"/>
            <a:ext cx="4297680" cy="475488"/>
          </a:xfrm>
          <a:prstGeom prst="rect">
            <a:avLst/>
          </a:prstGeom>
          <a:solidFill>
            <a:srgbClr val="C8C0B4"/>
          </a:solidFill>
          <a:ln cap="flat" cmpd="sng" w="9525">
            <a:solidFill>
              <a:srgbClr val="B0B8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4663440" y="3474720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End-of-day Reschedule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4663440" y="367588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Recover unfinished work before the day closes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572000" y="3977640"/>
            <a:ext cx="4297680" cy="475488"/>
          </a:xfrm>
          <a:prstGeom prst="rect">
            <a:avLst/>
          </a:prstGeom>
          <a:solidFill>
            <a:srgbClr val="C8C0B4"/>
          </a:solidFill>
          <a:ln cap="flat" cmpd="sng" w="9525">
            <a:solidFill>
              <a:srgbClr val="B0B8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4663440" y="4014216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Before You Leave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4663440" y="4215384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Packing checklist tied to events, weather, and defaults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BE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"/>
          <p:cNvSpPr/>
          <p:nvPr/>
        </p:nvSpPr>
        <p:spPr>
          <a:xfrm>
            <a:off x="274320" y="182880"/>
            <a:ext cx="118800" cy="118800"/>
          </a:xfrm>
          <a:prstGeom prst="ellipse">
            <a:avLst/>
          </a:prstGeom>
          <a:solidFill>
            <a:srgbClr val="B0A89E">
              <a:alpha val="70200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8686800" y="274320"/>
            <a:ext cx="73200" cy="73200"/>
          </a:xfrm>
          <a:prstGeom prst="ellipse">
            <a:avLst/>
          </a:prstGeom>
          <a:solidFill>
            <a:srgbClr val="B0A89E">
              <a:alpha val="70200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137160" y="1920240"/>
            <a:ext cx="73200" cy="73200"/>
          </a:xfrm>
          <a:prstGeom prst="ellipse">
            <a:avLst/>
          </a:prstGeom>
          <a:solidFill>
            <a:srgbClr val="B0A89E">
              <a:alpha val="70200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8778240" y="1645920"/>
            <a:ext cx="73200" cy="73200"/>
          </a:xfrm>
          <a:prstGeom prst="ellipse">
            <a:avLst/>
          </a:prstGeom>
          <a:solidFill>
            <a:srgbClr val="B0A89E">
              <a:alpha val="70200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457200" y="4389120"/>
            <a:ext cx="118800" cy="118800"/>
          </a:xfrm>
          <a:prstGeom prst="ellipse">
            <a:avLst/>
          </a:prstGeom>
          <a:solidFill>
            <a:srgbClr val="B0A89E">
              <a:alpha val="70200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8503920" y="4206240"/>
            <a:ext cx="73200" cy="73200"/>
          </a:xfrm>
          <a:prstGeom prst="ellipse">
            <a:avLst/>
          </a:prstGeom>
          <a:solidFill>
            <a:srgbClr val="B0A89E">
              <a:alpha val="70200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3840480" y="137160"/>
            <a:ext cx="73200" cy="73200"/>
          </a:xfrm>
          <a:prstGeom prst="ellipse">
            <a:avLst/>
          </a:prstGeom>
          <a:solidFill>
            <a:srgbClr val="B0A89E">
              <a:alpha val="70200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5577840" y="365760"/>
            <a:ext cx="73200" cy="73200"/>
          </a:xfrm>
          <a:prstGeom prst="ellipse">
            <a:avLst/>
          </a:prstGeom>
          <a:solidFill>
            <a:srgbClr val="B0A89E">
              <a:alpha val="70200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2560320" y="4754880"/>
            <a:ext cx="73200" cy="73200"/>
          </a:xfrm>
          <a:prstGeom prst="ellipse">
            <a:avLst/>
          </a:prstGeom>
          <a:solidFill>
            <a:srgbClr val="B0A89E">
              <a:alpha val="70200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6858000" y="4846320"/>
            <a:ext cx="118800" cy="118800"/>
          </a:xfrm>
          <a:prstGeom prst="ellipse">
            <a:avLst/>
          </a:prstGeom>
          <a:solidFill>
            <a:srgbClr val="B0A89E">
              <a:alpha val="70200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1097280" y="2834640"/>
            <a:ext cx="73200" cy="73200"/>
          </a:xfrm>
          <a:prstGeom prst="ellipse">
            <a:avLst/>
          </a:prstGeom>
          <a:solidFill>
            <a:srgbClr val="B0A89E">
              <a:alpha val="70200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8046720" y="3108960"/>
            <a:ext cx="118800" cy="118800"/>
          </a:xfrm>
          <a:prstGeom prst="ellipse">
            <a:avLst/>
          </a:prstGeom>
          <a:solidFill>
            <a:srgbClr val="B0A89E">
              <a:alpha val="70200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3200400" y="4480560"/>
            <a:ext cx="73200" cy="73200"/>
          </a:xfrm>
          <a:prstGeom prst="ellipse">
            <a:avLst/>
          </a:prstGeom>
          <a:solidFill>
            <a:srgbClr val="B0A89E">
              <a:alpha val="70200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5394960" y="4663440"/>
            <a:ext cx="118800" cy="118800"/>
          </a:xfrm>
          <a:prstGeom prst="ellipse">
            <a:avLst/>
          </a:prstGeom>
          <a:solidFill>
            <a:srgbClr val="B0A89E">
              <a:alpha val="70200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365760" y="47731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8F86"/>
                </a:solidFill>
                <a:latin typeface="Calibri"/>
                <a:ea typeface="Calibri"/>
                <a:cs typeface="Calibri"/>
                <a:sym typeface="Calibri"/>
              </a:rPr>
              <a:t>S T R A I G H T N O O D L E  E X E C U T I O 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365760" y="22860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4400"/>
              <a:buFont typeface="Georgia"/>
              <a:buNone/>
            </a:pPr>
            <a:r>
              <a:rPr b="1" lang="en-US" sz="4400">
                <a:solidFill>
                  <a:srgbClr val="9A7060"/>
                </a:solidFill>
                <a:latin typeface="Georgia"/>
                <a:ea typeface="Georgia"/>
                <a:cs typeface="Georgia"/>
                <a:sym typeface="Georgia"/>
              </a:rPr>
              <a:t>Live Demo</a:t>
            </a:r>
            <a:endParaRPr b="0" i="0" sz="4400" u="none" cap="none" strike="noStrike">
              <a:solidFill>
                <a:srgbClr val="9A7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365760" y="868680"/>
            <a:ext cx="841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9A8F86"/>
                </a:solidFill>
                <a:latin typeface="Calibri"/>
                <a:ea typeface="Calibri"/>
                <a:cs typeface="Calibri"/>
                <a:sym typeface="Calibri"/>
              </a:rPr>
              <a:t>The full loop in under 90 seconds</a:t>
            </a:r>
            <a:endParaRPr b="0" i="0" sz="1300" u="none" cap="none" strike="noStrike">
              <a:solidFill>
                <a:srgbClr val="9A8F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228645" y="1248260"/>
            <a:ext cx="4114800" cy="3246000"/>
          </a:xfrm>
          <a:prstGeom prst="rect">
            <a:avLst/>
          </a:prstGeom>
          <a:solidFill>
            <a:srgbClr val="C8C0B4"/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A6E64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365760" y="1353312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A8F86"/>
                </a:solidFill>
                <a:latin typeface="Calibri"/>
                <a:ea typeface="Calibri"/>
                <a:cs typeface="Calibri"/>
                <a:sym typeface="Calibri"/>
              </a:rPr>
              <a:t>Strategy says  →  Straightnoodle does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411480" y="1691640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E64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411480" y="1965960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→  S</a:t>
            </a:r>
            <a:r>
              <a:rPr b="1" lang="en-US" sz="1200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how the two layer product: Strategy + Flowgram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365755" y="2292178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E64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/2/ Onboarding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365755" y="4083948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365755" y="2897503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E64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/2/dashboard/demo-*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365755" y="3188060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Strategy Web — goal, pillars, bottleneck, alignment 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4572000" y="1280160"/>
            <a:ext cx="4297800" cy="475500"/>
          </a:xfrm>
          <a:prstGeom prst="rect">
            <a:avLst/>
          </a:prstGeom>
          <a:solidFill>
            <a:srgbClr val="C8C0B4"/>
          </a:solidFill>
          <a:ln cap="flat" cmpd="sng" w="9525">
            <a:solidFill>
              <a:srgbClr val="B0B8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4663440" y="1316736"/>
            <a:ext cx="411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Next 7 days + Cut 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4663440" y="1517904"/>
            <a:ext cx="411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Bottleneck named, tradeoffs visible, cuts specific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4572000" y="1819656"/>
            <a:ext cx="4297800" cy="475500"/>
          </a:xfrm>
          <a:prstGeom prst="rect">
            <a:avLst/>
          </a:prstGeom>
          <a:solidFill>
            <a:srgbClr val="C8C0B4"/>
          </a:solidFill>
          <a:ln cap="flat" cmpd="sng" w="9525">
            <a:solidFill>
              <a:srgbClr val="B0B8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4663440" y="1856232"/>
            <a:ext cx="411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/1 Flowgram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4663440" y="2057400"/>
            <a:ext cx="411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Flowgram daily execution layer — live, not static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4572000" y="2359152"/>
            <a:ext cx="4297800" cy="475500"/>
          </a:xfrm>
          <a:prstGeom prst="rect">
            <a:avLst/>
          </a:prstGeom>
          <a:solidFill>
            <a:srgbClr val="C8C0B4"/>
          </a:solidFill>
          <a:ln cap="flat" cmpd="sng" w="9525">
            <a:solidFill>
              <a:srgbClr val="B0B8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4663440" y="2395728"/>
            <a:ext cx="411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/1/week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4663440" y="2596896"/>
            <a:ext cx="411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Week View — calendar scan of the full week ahead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4572000" y="2898648"/>
            <a:ext cx="4297800" cy="475500"/>
          </a:xfrm>
          <a:prstGeom prst="rect">
            <a:avLst/>
          </a:prstGeom>
          <a:solidFill>
            <a:srgbClr val="C8C0B4"/>
          </a:solidFill>
          <a:ln cap="flat" cmpd="sng" w="9525">
            <a:solidFill>
              <a:srgbClr val="B0B8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4663440" y="2935224"/>
            <a:ext cx="411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/2/opportunity/demo-*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4663440" y="3136392"/>
            <a:ext cx="411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Robotics club: 78%, Say Yes With Conditions, cuts named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365755" y="3643310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Today Focus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 txBox="1"/>
          <p:nvPr/>
        </p:nvSpPr>
        <p:spPr>
          <a:xfrm>
            <a:off x="268250" y="3785238"/>
            <a:ext cx="352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Top 3 strategy actions surfaced as a morning overlay</a:t>
            </a:r>
            <a:endParaRPr sz="11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 txBox="1"/>
          <p:nvPr/>
        </p:nvSpPr>
        <p:spPr>
          <a:xfrm>
            <a:off x="268250" y="2565038"/>
            <a:ext cx="372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Assessments — brain dump + progressive map preview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5BCA8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1"/>
          <p:cNvSpPr/>
          <p:nvPr/>
        </p:nvSpPr>
        <p:spPr>
          <a:xfrm>
            <a:off x="274320" y="18288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8686800" y="27432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"/>
          <p:cNvSpPr/>
          <p:nvPr/>
        </p:nvSpPr>
        <p:spPr>
          <a:xfrm>
            <a:off x="137160" y="192024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8778240" y="164592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1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8503920" y="420624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3840480" y="13716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1"/>
          <p:cNvSpPr/>
          <p:nvPr/>
        </p:nvSpPr>
        <p:spPr>
          <a:xfrm>
            <a:off x="5577840" y="36576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1"/>
          <p:cNvSpPr/>
          <p:nvPr/>
        </p:nvSpPr>
        <p:spPr>
          <a:xfrm>
            <a:off x="2560320" y="475488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6858000" y="484632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1097280" y="283464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8046720" y="310896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3200400" y="448056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5394960" y="466344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"/>
          <p:cNvSpPr/>
          <p:nvPr/>
        </p:nvSpPr>
        <p:spPr>
          <a:xfrm>
            <a:off x="365760" y="47731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180"/>
                </a:solidFill>
                <a:latin typeface="Calibri"/>
                <a:ea typeface="Calibri"/>
                <a:cs typeface="Calibri"/>
                <a:sym typeface="Calibri"/>
              </a:rPr>
              <a:t>O P P O R T U N I T Y  V A L I D A T I O 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0EBE1"/>
                </a:solidFill>
                <a:latin typeface="Georgia"/>
                <a:ea typeface="Georgia"/>
                <a:cs typeface="Georgia"/>
                <a:sym typeface="Georgia"/>
              </a:rPr>
              <a:t>The Opportunity Checker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Should you say yes? AI tells you — and names the cost.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274320" y="1280160"/>
            <a:ext cx="4114800" cy="3246120"/>
          </a:xfrm>
          <a:prstGeom prst="rect">
            <a:avLst/>
          </a:prstGeom>
          <a:solidFill>
            <a:srgbClr val="C8CEBC"/>
          </a:solidFill>
          <a:ln cap="flat" cmpd="sng" w="1015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1"/>
          <p:cNvSpPr/>
          <p:nvPr/>
        </p:nvSpPr>
        <p:spPr>
          <a:xfrm>
            <a:off x="411480" y="138988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85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06850"/>
                </a:solidFill>
                <a:latin typeface="Calibri"/>
                <a:ea typeface="Calibri"/>
                <a:cs typeface="Calibri"/>
                <a:sym typeface="Calibri"/>
              </a:rPr>
              <a:t>"Join the Robotics Club exec team?"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274320" y="1755648"/>
            <a:ext cx="4114800" cy="1417320"/>
          </a:xfrm>
          <a:prstGeom prst="rect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1"/>
          <p:cNvSpPr/>
          <p:nvPr/>
        </p:nvSpPr>
        <p:spPr>
          <a:xfrm>
            <a:off x="411480" y="18013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DBC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DBCE"/>
                </a:solidFill>
                <a:latin typeface="Calibri"/>
                <a:ea typeface="Calibri"/>
                <a:cs typeface="Calibri"/>
                <a:sym typeface="Calibri"/>
              </a:rPr>
              <a:t>FIT 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411480" y="1993392"/>
            <a:ext cx="1097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6000"/>
              <a:buFont typeface="Georgia"/>
              <a:buNone/>
            </a:pPr>
            <a:r>
              <a:rPr b="1" i="0" lang="en-US" sz="6000" u="none" cap="none" strike="noStrike">
                <a:solidFill>
                  <a:srgbClr val="F0EBE1"/>
                </a:solidFill>
                <a:latin typeface="Georgia"/>
                <a:ea typeface="Georgia"/>
                <a:cs typeface="Georgia"/>
                <a:sym typeface="Georgia"/>
              </a:rPr>
              <a:t>78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1371600" y="23317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F0EBE1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1920240" y="21945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Say Yes With Conditions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411480" y="3218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180"/>
                </a:solidFill>
                <a:latin typeface="Calibri"/>
                <a:ea typeface="Calibri"/>
                <a:cs typeface="Calibri"/>
                <a:sym typeface="Calibri"/>
              </a:rPr>
              <a:t>WHAT GETS CUT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411480" y="3456432"/>
            <a:ext cx="109728" cy="109728"/>
          </a:xfrm>
          <a:prstGeom prst="ellipse">
            <a:avLst/>
          </a:prstGeom>
          <a:solidFill>
            <a:srgbClr val="606850"/>
          </a:solidFill>
          <a:ln cap="flat" cmpd="sng" w="12700">
            <a:solidFill>
              <a:srgbClr val="6068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1"/>
          <p:cNvSpPr/>
          <p:nvPr/>
        </p:nvSpPr>
        <p:spPr>
          <a:xfrm>
            <a:off x="594360" y="3410712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8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06850"/>
                </a:solidFill>
                <a:latin typeface="Calibri"/>
                <a:ea typeface="Calibri"/>
                <a:cs typeface="Calibri"/>
                <a:sym typeface="Calibri"/>
              </a:rPr>
              <a:t>Research assistantship hours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411480" y="3749040"/>
            <a:ext cx="109728" cy="109728"/>
          </a:xfrm>
          <a:prstGeom prst="ellipse">
            <a:avLst/>
          </a:prstGeom>
          <a:solidFill>
            <a:srgbClr val="606850"/>
          </a:solidFill>
          <a:ln cap="flat" cmpd="sng" w="12700">
            <a:solidFill>
              <a:srgbClr val="6068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594360" y="370332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8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06850"/>
                </a:solidFill>
                <a:latin typeface="Calibri"/>
                <a:ea typeface="Calibri"/>
                <a:cs typeface="Calibri"/>
                <a:sym typeface="Calibri"/>
              </a:rPr>
              <a:t>Saturday study blocks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411480" y="40690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180"/>
                </a:solidFill>
                <a:latin typeface="Calibri"/>
                <a:ea typeface="Calibri"/>
                <a:cs typeface="Calibri"/>
                <a:sym typeface="Calibri"/>
              </a:rPr>
              <a:t>CONDITION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411480" y="427939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Only if capped at 4 hrs/week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4572000" y="1325880"/>
            <a:ext cx="4297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0EBE1"/>
                </a:solidFill>
                <a:latin typeface="Georgia"/>
                <a:ea typeface="Georgia"/>
                <a:cs typeface="Georgia"/>
                <a:sym typeface="Georgia"/>
              </a:rPr>
              <a:t>Every opportunity runs through your strategy.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4572000" y="2057400"/>
            <a:ext cx="164592" cy="164592"/>
          </a:xfrm>
          <a:prstGeom prst="ellipse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4828032" y="202996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AI compares the ask against your live StrategyPlan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4572000" y="2560320"/>
            <a:ext cx="164592" cy="164592"/>
          </a:xfrm>
          <a:prstGeom prst="ellipse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4828032" y="253288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Surfaces exact conflicts on your node 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4572000" y="3063240"/>
            <a:ext cx="164592" cy="164592"/>
          </a:xfrm>
          <a:prstGeom prst="ellipse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4828032" y="303580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Names what you would have to cut — not vaguely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4572000" y="3566160"/>
            <a:ext cx="164592" cy="164592"/>
          </a:xfrm>
          <a:prstGeom prst="ellipse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4828032" y="353872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Gives a clear condition for saying yes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4572000" y="4069080"/>
            <a:ext cx="164592" cy="164592"/>
          </a:xfrm>
          <a:prstGeom prst="ellipse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4828032" y="404164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Ties back to </a:t>
            </a:r>
            <a:r>
              <a:rPr lang="en-US" sz="1200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Flowgram</a:t>
            </a:r>
            <a:r>
              <a:rPr b="0" i="0" lang="en-US" sz="1200" u="none" cap="none" strike="noStrike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 if hours change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BE1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2"/>
          <p:cNvSpPr/>
          <p:nvPr/>
        </p:nvSpPr>
        <p:spPr>
          <a:xfrm>
            <a:off x="274320" y="18288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2"/>
          <p:cNvSpPr/>
          <p:nvPr/>
        </p:nvSpPr>
        <p:spPr>
          <a:xfrm>
            <a:off x="8686800" y="27432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137160" y="192024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2"/>
          <p:cNvSpPr/>
          <p:nvPr/>
        </p:nvSpPr>
        <p:spPr>
          <a:xfrm>
            <a:off x="8778240" y="164592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2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8503920" y="420624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3840480" y="13716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2"/>
          <p:cNvSpPr/>
          <p:nvPr/>
        </p:nvSpPr>
        <p:spPr>
          <a:xfrm>
            <a:off x="5577840" y="36576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2560320" y="475488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6858000" y="484632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1097280" y="283464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2"/>
          <p:cNvSpPr/>
          <p:nvPr/>
        </p:nvSpPr>
        <p:spPr>
          <a:xfrm>
            <a:off x="8046720" y="310896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3200400" y="448056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2"/>
          <p:cNvSpPr/>
          <p:nvPr/>
        </p:nvSpPr>
        <p:spPr>
          <a:xfrm>
            <a:off x="5394960" y="466344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365760" y="47731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8F86"/>
                </a:solidFill>
                <a:latin typeface="Calibri"/>
                <a:ea typeface="Calibri"/>
                <a:cs typeface="Calibri"/>
                <a:sym typeface="Calibri"/>
              </a:rPr>
              <a:t>R E S E A R C 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3600"/>
              <a:buFont typeface="Georgia"/>
              <a:buNone/>
            </a:pPr>
            <a:r>
              <a:rPr b="1" i="0" lang="en-US" sz="3000" u="none" cap="none" strike="noStrike">
                <a:solidFill>
                  <a:srgbClr val="9A7060"/>
                </a:solidFill>
                <a:latin typeface="Georgia"/>
                <a:ea typeface="Georgia"/>
                <a:cs typeface="Georgia"/>
                <a:sym typeface="Georgia"/>
              </a:rPr>
              <a:t>Research-informed, not opinion-driven.</a:t>
            </a:r>
            <a:endParaRPr b="0" i="0" sz="3000" u="none" cap="none" strike="noStrike">
              <a:solidFill>
                <a:srgbClr val="9A7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A8F86"/>
                </a:solidFill>
                <a:latin typeface="Calibri"/>
                <a:ea typeface="Calibri"/>
                <a:cs typeface="Calibri"/>
                <a:sym typeface="Calibri"/>
              </a:rPr>
              <a:t>Pathwise applies known behavioral mechanisms</a:t>
            </a:r>
            <a:endParaRPr b="0" i="0" sz="1300" u="none" cap="none" strike="noStrike">
              <a:solidFill>
                <a:srgbClr val="9A8F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274320" y="1298448"/>
            <a:ext cx="4206240" cy="1280160"/>
          </a:xfrm>
          <a:prstGeom prst="rect">
            <a:avLst/>
          </a:prstGeom>
          <a:solidFill>
            <a:srgbClr val="C8C0B4"/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274320" y="1298448"/>
            <a:ext cx="54864" cy="1280160"/>
          </a:xfrm>
          <a:prstGeom prst="rect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384048" y="1389888"/>
            <a:ext cx="4041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Specific goals improve performance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384048" y="1709928"/>
            <a:ext cx="4041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7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8070"/>
                </a:solidFill>
                <a:latin typeface="Calibri"/>
                <a:ea typeface="Calibri"/>
                <a:cs typeface="Calibri"/>
                <a:sym typeface="Calibri"/>
              </a:rPr>
              <a:t>Locke &amp; Latham, APA 2002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384048" y="1938528"/>
            <a:ext cx="40416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Across 88 tasks, 40,000+ participants — specific goals reliably outperform vague ones.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4663440" y="1298448"/>
            <a:ext cx="4206240" cy="1280160"/>
          </a:xfrm>
          <a:prstGeom prst="rect">
            <a:avLst/>
          </a:prstGeom>
          <a:solidFill>
            <a:srgbClr val="C8C0B4"/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4663440" y="1298448"/>
            <a:ext cx="54864" cy="1280160"/>
          </a:xfrm>
          <a:prstGeom prst="rect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2"/>
          <p:cNvSpPr/>
          <p:nvPr/>
        </p:nvSpPr>
        <p:spPr>
          <a:xfrm>
            <a:off x="4773168" y="1389888"/>
            <a:ext cx="4041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Strategy maps create clarity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4773168" y="1709928"/>
            <a:ext cx="4041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7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8070"/>
                </a:solidFill>
                <a:latin typeface="Calibri"/>
                <a:ea typeface="Calibri"/>
                <a:cs typeface="Calibri"/>
                <a:sym typeface="Calibri"/>
              </a:rPr>
              <a:t>Kaplan &amp; Norton, HBR 2000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4773168" y="1938528"/>
            <a:ext cx="40416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One visual of linked objectives is worth more than 1,000 words or 25 KPIs.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274320" y="2724912"/>
            <a:ext cx="2743200" cy="1874520"/>
          </a:xfrm>
          <a:prstGeom prst="rect">
            <a:avLst/>
          </a:prstGeom>
          <a:solidFill>
            <a:srgbClr val="C8C0B4"/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2"/>
          <p:cNvSpPr/>
          <p:nvPr/>
        </p:nvSpPr>
        <p:spPr>
          <a:xfrm>
            <a:off x="274320" y="2724912"/>
            <a:ext cx="54864" cy="1874520"/>
          </a:xfrm>
          <a:prstGeom prst="rect">
            <a:avLst/>
          </a:prstGeom>
          <a:solidFill>
            <a:srgbClr val="4A9E8A"/>
          </a:solidFill>
          <a:ln cap="flat" cmpd="sng" w="1270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2"/>
          <p:cNvSpPr/>
          <p:nvPr/>
        </p:nvSpPr>
        <p:spPr>
          <a:xfrm>
            <a:off x="384048" y="2816352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Visuals reduce cognitive load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384048" y="3136392"/>
            <a:ext cx="2578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7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8070"/>
                </a:solidFill>
                <a:latin typeface="Calibri"/>
                <a:ea typeface="Calibri"/>
                <a:cs typeface="Calibri"/>
                <a:sym typeface="Calibri"/>
              </a:rPr>
              <a:t>Sweller — Cognitive Load Theory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384048" y="3364992"/>
            <a:ext cx="25786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Externalizing a complex strategy frees working memory for execution.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3200400" y="2724912"/>
            <a:ext cx="2743200" cy="1874520"/>
          </a:xfrm>
          <a:prstGeom prst="rect">
            <a:avLst/>
          </a:prstGeom>
          <a:solidFill>
            <a:srgbClr val="C8C0B4"/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2"/>
          <p:cNvSpPr/>
          <p:nvPr/>
        </p:nvSpPr>
        <p:spPr>
          <a:xfrm>
            <a:off x="3200400" y="2724912"/>
            <a:ext cx="54864" cy="1874520"/>
          </a:xfrm>
          <a:prstGeom prst="rect">
            <a:avLst/>
          </a:prstGeom>
          <a:solidFill>
            <a:srgbClr val="4A9E8A"/>
          </a:solidFill>
          <a:ln cap="flat" cmpd="sng" w="1270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2"/>
          <p:cNvSpPr/>
          <p:nvPr/>
        </p:nvSpPr>
        <p:spPr>
          <a:xfrm>
            <a:off x="3310128" y="2816352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Too many options kill follow-through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3310128" y="3136392"/>
            <a:ext cx="2578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7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8070"/>
                </a:solidFill>
                <a:latin typeface="Calibri"/>
                <a:ea typeface="Calibri"/>
                <a:cs typeface="Calibri"/>
                <a:sym typeface="Calibri"/>
              </a:rPr>
              <a:t>Iyengar &amp; Lepper, APA 2000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3310128" y="3364992"/>
            <a:ext cx="25786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6 options → 30% action. 24 options → 3%. The cut list is behavioral, not aesthetic.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6126480" y="2724912"/>
            <a:ext cx="2743200" cy="1874520"/>
          </a:xfrm>
          <a:prstGeom prst="rect">
            <a:avLst/>
          </a:prstGeom>
          <a:solidFill>
            <a:srgbClr val="C8C0B4"/>
          </a:solidFill>
          <a:ln cap="flat" cmpd="sng" w="12700">
            <a:solidFill>
              <a:srgbClr val="C8C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2"/>
          <p:cNvSpPr/>
          <p:nvPr/>
        </p:nvSpPr>
        <p:spPr>
          <a:xfrm>
            <a:off x="6126480" y="2724912"/>
            <a:ext cx="54864" cy="1874520"/>
          </a:xfrm>
          <a:prstGeom prst="rect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2"/>
          <p:cNvSpPr/>
          <p:nvPr/>
        </p:nvSpPr>
        <p:spPr>
          <a:xfrm>
            <a:off x="6236208" y="2816352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Specificity turns intention into 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6236208" y="3136392"/>
            <a:ext cx="2578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7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8070"/>
                </a:solidFill>
                <a:latin typeface="Calibri"/>
                <a:ea typeface="Calibri"/>
                <a:cs typeface="Calibri"/>
                <a:sym typeface="Calibri"/>
              </a:rPr>
              <a:t>Gollwitzer, APA 1999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6236208" y="3364992"/>
            <a:ext cx="25786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C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When/where/how plans multiply follow-through by 8×. That is </a:t>
            </a:r>
            <a:r>
              <a:rPr lang="en-US" sz="1000">
                <a:solidFill>
                  <a:srgbClr val="444C38"/>
                </a:solidFill>
                <a:latin typeface="Calibri"/>
                <a:ea typeface="Calibri"/>
                <a:cs typeface="Calibri"/>
                <a:sym typeface="Calibri"/>
              </a:rPr>
              <a:t>Flowgram.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5BCA8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3"/>
          <p:cNvSpPr/>
          <p:nvPr/>
        </p:nvSpPr>
        <p:spPr>
          <a:xfrm>
            <a:off x="274320" y="182880"/>
            <a:ext cx="29942" cy="29942"/>
          </a:xfrm>
          <a:prstGeom prst="ellipse">
            <a:avLst/>
          </a:prstGeom>
          <a:solidFill>
            <a:srgbClr val="7A2E4B">
              <a:alpha val="32156"/>
            </a:srgbClr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1645920" y="731520"/>
            <a:ext cx="62243" cy="62243"/>
          </a:xfrm>
          <a:prstGeom prst="ellipse">
            <a:avLst/>
          </a:prstGeom>
          <a:solidFill>
            <a:srgbClr val="7A2E4B">
              <a:alpha val="23921"/>
            </a:srgbClr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731520" y="4480560"/>
            <a:ext cx="33759" cy="33759"/>
          </a:xfrm>
          <a:prstGeom prst="ellipse">
            <a:avLst/>
          </a:prstGeom>
          <a:solidFill>
            <a:srgbClr val="7A2E4B">
              <a:alpha val="32941"/>
            </a:srgbClr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2286000" y="4663440"/>
            <a:ext cx="61684" cy="61684"/>
          </a:xfrm>
          <a:prstGeom prst="ellipse">
            <a:avLst/>
          </a:prstGeom>
          <a:solidFill>
            <a:srgbClr val="7A2E4B">
              <a:alpha val="18039"/>
            </a:srgbClr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8412480" y="365760"/>
            <a:ext cx="28480" cy="28480"/>
          </a:xfrm>
          <a:prstGeom prst="ellipse">
            <a:avLst/>
          </a:prstGeom>
          <a:solidFill>
            <a:srgbClr val="7A2E4B">
              <a:alpha val="18039"/>
            </a:srgbClr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7772400" y="1005840"/>
            <a:ext cx="36469" cy="36469"/>
          </a:xfrm>
          <a:prstGeom prst="ellipse">
            <a:avLst/>
          </a:prstGeom>
          <a:solidFill>
            <a:srgbClr val="7A2E4B">
              <a:alpha val="16862"/>
            </a:srgbClr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8686800" y="4389120"/>
            <a:ext cx="37641" cy="37641"/>
          </a:xfrm>
          <a:prstGeom prst="ellipse">
            <a:avLst/>
          </a:prstGeom>
          <a:solidFill>
            <a:srgbClr val="7A2E4B">
              <a:alpha val="36862"/>
            </a:srgbClr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7132320" y="4572000"/>
            <a:ext cx="23024" cy="23024"/>
          </a:xfrm>
          <a:prstGeom prst="ellipse">
            <a:avLst/>
          </a:prstGeom>
          <a:solidFill>
            <a:srgbClr val="7A2E4B">
              <a:alpha val="36862"/>
            </a:srgbClr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4754880" y="274320"/>
            <a:ext cx="24859" cy="24859"/>
          </a:xfrm>
          <a:prstGeom prst="ellipse">
            <a:avLst/>
          </a:prstGeom>
          <a:solidFill>
            <a:srgbClr val="7A2E4B">
              <a:alpha val="27843"/>
            </a:srgbClr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4206240" y="4846320"/>
            <a:ext cx="47922" cy="47922"/>
          </a:xfrm>
          <a:prstGeom prst="ellipse">
            <a:avLst/>
          </a:prstGeom>
          <a:solidFill>
            <a:srgbClr val="7A2E4B">
              <a:alpha val="40000"/>
            </a:srgbClr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F0EBE1"/>
                </a:solidFill>
                <a:latin typeface="Georgia"/>
                <a:ea typeface="Georgia"/>
                <a:cs typeface="Georgia"/>
                <a:sym typeface="Georgia"/>
              </a:rPr>
              <a:t>Technical Execution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EBC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4A9E8A"/>
                </a:solidFill>
                <a:latin typeface="Calibri"/>
                <a:ea typeface="Calibri"/>
                <a:cs typeface="Calibri"/>
                <a:sym typeface="Calibri"/>
              </a:rPr>
              <a:t>Typed schemas, validated AI, deterministic fallbacks, real persistence.</a:t>
            </a:r>
            <a:endParaRPr sz="1300">
              <a:solidFill>
                <a:srgbClr val="4A9E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411480" y="1298448"/>
            <a:ext cx="2029968" cy="658368"/>
          </a:xfrm>
          <a:prstGeom prst="rect">
            <a:avLst/>
          </a:prstGeom>
          <a:solidFill>
            <a:srgbClr val="9BA592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411480" y="1298448"/>
            <a:ext cx="45720" cy="658368"/>
          </a:xfrm>
          <a:prstGeom prst="rect">
            <a:avLst/>
          </a:prstGeom>
          <a:solidFill>
            <a:srgbClr val="4A9E8A"/>
          </a:solidFill>
          <a:ln cap="flat" cmpd="sng" w="1270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521208" y="13533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Next.js 14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521208" y="160934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E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8CEBC"/>
                </a:solidFill>
                <a:latin typeface="Calibri"/>
                <a:ea typeface="Calibri"/>
                <a:cs typeface="Calibri"/>
                <a:sym typeface="Calibri"/>
              </a:rPr>
              <a:t>App Router + server components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2587752" y="1298448"/>
            <a:ext cx="2029968" cy="658368"/>
          </a:xfrm>
          <a:prstGeom prst="rect">
            <a:avLst/>
          </a:prstGeom>
          <a:solidFill>
            <a:srgbClr val="9BA592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2587752" y="1298448"/>
            <a:ext cx="45720" cy="658368"/>
          </a:xfrm>
          <a:prstGeom prst="rect">
            <a:avLst/>
          </a:prstGeom>
          <a:solidFill>
            <a:srgbClr val="4A9E8A"/>
          </a:solidFill>
          <a:ln cap="flat" cmpd="sng" w="1270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2697480" y="13533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TypeScript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2697480" y="160934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E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8CEBC"/>
                </a:solidFill>
                <a:latin typeface="Calibri"/>
                <a:ea typeface="Calibri"/>
                <a:cs typeface="Calibri"/>
                <a:sym typeface="Calibri"/>
              </a:rPr>
              <a:t>End-to-end type safety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4764024" y="1298448"/>
            <a:ext cx="2029968" cy="658368"/>
          </a:xfrm>
          <a:prstGeom prst="rect">
            <a:avLst/>
          </a:prstGeom>
          <a:solidFill>
            <a:srgbClr val="9BA592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4764024" y="1298448"/>
            <a:ext cx="45720" cy="658368"/>
          </a:xfrm>
          <a:prstGeom prst="rect">
            <a:avLst/>
          </a:prstGeom>
          <a:solidFill>
            <a:srgbClr val="4A9E8A"/>
          </a:solidFill>
          <a:ln cap="flat" cmpd="sng" w="1270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4873752" y="13533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Groq AI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4873752" y="160934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E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8CEBC"/>
                </a:solidFill>
                <a:latin typeface="Calibri"/>
                <a:ea typeface="Calibri"/>
                <a:cs typeface="Calibri"/>
                <a:sym typeface="Calibri"/>
              </a:rPr>
              <a:t>llama-3.3-70b for strategy + eval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6940296" y="1298448"/>
            <a:ext cx="2029968" cy="658368"/>
          </a:xfrm>
          <a:prstGeom prst="rect">
            <a:avLst/>
          </a:prstGeom>
          <a:solidFill>
            <a:srgbClr val="9BA592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6940296" y="1298448"/>
            <a:ext cx="45720" cy="658368"/>
          </a:xfrm>
          <a:prstGeom prst="rect">
            <a:avLst/>
          </a:prstGeom>
          <a:solidFill>
            <a:srgbClr val="4A9E8A"/>
          </a:solidFill>
          <a:ln cap="flat" cmpd="sng" w="1270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7050024" y="13533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Zod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7050024" y="160934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E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8CEBC"/>
                </a:solidFill>
                <a:latin typeface="Calibri"/>
                <a:ea typeface="Calibri"/>
                <a:cs typeface="Calibri"/>
                <a:sym typeface="Calibri"/>
              </a:rPr>
              <a:t>Schema validation + retry logic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411480" y="2048256"/>
            <a:ext cx="2029968" cy="658368"/>
          </a:xfrm>
          <a:prstGeom prst="rect">
            <a:avLst/>
          </a:prstGeom>
          <a:solidFill>
            <a:srgbClr val="9BA592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411480" y="2048256"/>
            <a:ext cx="45720" cy="658368"/>
          </a:xfrm>
          <a:prstGeom prst="rect">
            <a:avLst/>
          </a:prstGeom>
          <a:solidFill>
            <a:srgbClr val="4A9E8A"/>
          </a:solidFill>
          <a:ln cap="flat" cmpd="sng" w="1270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521208" y="21031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Supabase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521208" y="235915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E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8CEBC"/>
                </a:solidFill>
                <a:latin typeface="Calibri"/>
                <a:ea typeface="Calibri"/>
                <a:cs typeface="Calibri"/>
                <a:sym typeface="Calibri"/>
              </a:rPr>
              <a:t>JSONB plans + local cache fallback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2587752" y="2048256"/>
            <a:ext cx="2029968" cy="658368"/>
          </a:xfrm>
          <a:prstGeom prst="rect">
            <a:avLst/>
          </a:prstGeom>
          <a:solidFill>
            <a:srgbClr val="9BA592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/>
          <p:nvPr/>
        </p:nvSpPr>
        <p:spPr>
          <a:xfrm>
            <a:off x="2587752" y="2048256"/>
            <a:ext cx="45720" cy="658368"/>
          </a:xfrm>
          <a:prstGeom prst="rect">
            <a:avLst/>
          </a:prstGeom>
          <a:solidFill>
            <a:srgbClr val="4A9E8A"/>
          </a:solidFill>
          <a:ln cap="flat" cmpd="sng" w="1270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2697480" y="21031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Three.js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2697480" y="235915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E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8CEBC"/>
                </a:solidFill>
                <a:latin typeface="Calibri"/>
                <a:ea typeface="Calibri"/>
                <a:cs typeface="Calibri"/>
                <a:sym typeface="Calibri"/>
              </a:rPr>
              <a:t>Strategy Web / GoalTree canvas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4764024" y="2048256"/>
            <a:ext cx="2029968" cy="658368"/>
          </a:xfrm>
          <a:prstGeom prst="rect">
            <a:avLst/>
          </a:prstGeom>
          <a:solidFill>
            <a:srgbClr val="9BA592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3"/>
          <p:cNvSpPr/>
          <p:nvPr/>
        </p:nvSpPr>
        <p:spPr>
          <a:xfrm>
            <a:off x="4764024" y="2048256"/>
            <a:ext cx="45720" cy="658368"/>
          </a:xfrm>
          <a:prstGeom prst="rect">
            <a:avLst/>
          </a:prstGeom>
          <a:solidFill>
            <a:srgbClr val="4A9E8A"/>
          </a:solidFill>
          <a:ln cap="flat" cmpd="sng" w="1270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4873752" y="21031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Framer Motion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4873752" y="235915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E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8CEBC"/>
                </a:solidFill>
                <a:latin typeface="Calibri"/>
                <a:ea typeface="Calibri"/>
                <a:cs typeface="Calibri"/>
                <a:sym typeface="Calibri"/>
              </a:rPr>
              <a:t>Staggered UI animation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6940296" y="2048256"/>
            <a:ext cx="2029968" cy="658368"/>
          </a:xfrm>
          <a:prstGeom prst="rect">
            <a:avLst/>
          </a:prstGeom>
          <a:solidFill>
            <a:srgbClr val="9BA592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6940296" y="2048256"/>
            <a:ext cx="45720" cy="658368"/>
          </a:xfrm>
          <a:prstGeom prst="rect">
            <a:avLst/>
          </a:prstGeom>
          <a:solidFill>
            <a:srgbClr val="4A9E8A"/>
          </a:solidFill>
          <a:ln cap="flat" cmpd="sng" w="1270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3"/>
          <p:cNvSpPr/>
          <p:nvPr/>
        </p:nvSpPr>
        <p:spPr>
          <a:xfrm>
            <a:off x="7050024" y="21031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OpenWeather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3"/>
          <p:cNvSpPr/>
          <p:nvPr/>
        </p:nvSpPr>
        <p:spPr>
          <a:xfrm>
            <a:off x="7050024" y="235915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E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8CEBC"/>
                </a:solidFill>
                <a:latin typeface="Calibri"/>
                <a:ea typeface="Calibri"/>
                <a:cs typeface="Calibri"/>
                <a:sym typeface="Calibri"/>
              </a:rPr>
              <a:t>Weather + geocoding for Flowgram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3"/>
          <p:cNvSpPr/>
          <p:nvPr/>
        </p:nvSpPr>
        <p:spPr>
          <a:xfrm>
            <a:off x="411480" y="2907792"/>
            <a:ext cx="8558784" cy="1719072"/>
          </a:xfrm>
          <a:prstGeom prst="rect">
            <a:avLst/>
          </a:prstGeom>
          <a:solidFill>
            <a:srgbClr val="9BA592"/>
          </a:solidFill>
          <a:ln cap="flat" cmpd="sng" w="12700">
            <a:solidFill>
              <a:srgbClr val="C8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594360" y="29626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8A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4A9E8A"/>
                </a:solidFill>
                <a:latin typeface="Calibri"/>
                <a:ea typeface="Calibri"/>
                <a:cs typeface="Calibri"/>
                <a:sym typeface="Calibri"/>
              </a:rPr>
              <a:t>DATA FLOW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457200" y="3236976"/>
            <a:ext cx="9326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592"/>
              </a:buClr>
              <a:buSzPts val="850"/>
              <a:buFont typeface="Courier New"/>
              <a:buNone/>
            </a:pPr>
            <a:r>
              <a:rPr b="1" lang="en-US" sz="850">
                <a:solidFill>
                  <a:srgbClr val="9BA592"/>
                </a:solidFill>
                <a:latin typeface="Courier New"/>
                <a:ea typeface="Courier New"/>
                <a:cs typeface="Courier New"/>
                <a:sym typeface="Courier New"/>
              </a:rPr>
              <a:t>Assessments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3"/>
          <p:cNvSpPr/>
          <p:nvPr/>
        </p:nvSpPr>
        <p:spPr>
          <a:xfrm>
            <a:off x="1389888" y="3236976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3"/>
          <p:cNvSpPr/>
          <p:nvPr/>
        </p:nvSpPr>
        <p:spPr>
          <a:xfrm>
            <a:off x="2322576" y="3236976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592"/>
              </a:buClr>
              <a:buSzPts val="850"/>
              <a:buFont typeface="Courier New"/>
              <a:buNone/>
            </a:pPr>
            <a:r>
              <a:rPr b="1" lang="en-US" sz="850">
                <a:solidFill>
                  <a:srgbClr val="9BA592"/>
                </a:solidFill>
                <a:latin typeface="Courier New"/>
                <a:ea typeface="Courier New"/>
                <a:cs typeface="Courier New"/>
                <a:sym typeface="Courier New"/>
              </a:rPr>
              <a:t>POST /api/2/generate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3"/>
          <p:cNvSpPr/>
          <p:nvPr/>
        </p:nvSpPr>
        <p:spPr>
          <a:xfrm>
            <a:off x="3255264" y="3236976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4187952" y="3236976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592"/>
              </a:buClr>
              <a:buSzPts val="850"/>
              <a:buFont typeface="Courier New"/>
              <a:buNone/>
            </a:pPr>
            <a:r>
              <a:rPr b="1" lang="en-US" sz="850">
                <a:solidFill>
                  <a:srgbClr val="9BA592"/>
                </a:solidFill>
                <a:latin typeface="Courier New"/>
                <a:ea typeface="Courier New"/>
                <a:cs typeface="Courier New"/>
                <a:sym typeface="Courier New"/>
              </a:rPr>
              <a:t>Groq + Zod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5120640" y="3236976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3"/>
          <p:cNvSpPr/>
          <p:nvPr/>
        </p:nvSpPr>
        <p:spPr>
          <a:xfrm>
            <a:off x="6053328" y="3236976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592"/>
              </a:buClr>
              <a:buSzPts val="850"/>
              <a:buFont typeface="Courier New"/>
              <a:buNone/>
            </a:pPr>
            <a:r>
              <a:rPr b="1" lang="en-US" sz="850">
                <a:solidFill>
                  <a:srgbClr val="9BA592"/>
                </a:solidFill>
                <a:latin typeface="Courier New"/>
                <a:ea typeface="Courier New"/>
                <a:cs typeface="Courier New"/>
                <a:sym typeface="Courier New"/>
              </a:rPr>
              <a:t>Supabase + cache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3"/>
          <p:cNvSpPr/>
          <p:nvPr/>
        </p:nvSpPr>
        <p:spPr>
          <a:xfrm>
            <a:off x="6986016" y="3236976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7918704" y="3236976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592"/>
              </a:buClr>
              <a:buSzPts val="850"/>
              <a:buFont typeface="Courier New"/>
              <a:buNone/>
            </a:pPr>
            <a:r>
              <a:rPr b="1" lang="en-US" sz="850">
                <a:solidFill>
                  <a:srgbClr val="9BA592"/>
                </a:solidFill>
                <a:latin typeface="Courier New"/>
                <a:ea typeface="Courier New"/>
                <a:cs typeface="Courier New"/>
                <a:sym typeface="Courier New"/>
              </a:rPr>
              <a:t>Strategy Web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457200" y="3611880"/>
            <a:ext cx="9326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EBC"/>
              </a:buClr>
              <a:buSzPts val="850"/>
              <a:buFont typeface="Courier New"/>
              <a:buNone/>
            </a:pPr>
            <a:r>
              <a:rPr b="1" lang="en-US" sz="850">
                <a:solidFill>
                  <a:srgbClr val="C8CEBC"/>
                </a:solidFill>
                <a:latin typeface="Courier New"/>
                <a:ea typeface="Courier New"/>
                <a:cs typeface="Courier New"/>
                <a:sym typeface="Courier New"/>
              </a:rPr>
              <a:t>Opportunity text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1389888" y="361188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2322576" y="361188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EBC"/>
              </a:buClr>
              <a:buSzPts val="850"/>
              <a:buFont typeface="Courier New"/>
              <a:buNone/>
            </a:pPr>
            <a:r>
              <a:rPr b="1" lang="en-US" sz="850">
                <a:solidFill>
                  <a:srgbClr val="C8CEBC"/>
                </a:solidFill>
                <a:latin typeface="Courier New"/>
                <a:ea typeface="Courier New"/>
                <a:cs typeface="Courier New"/>
                <a:sym typeface="Courier New"/>
              </a:rPr>
              <a:t>POST /api/2/opportunity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3255264" y="361188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4187951" y="3611880"/>
            <a:ext cx="98909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EBC"/>
              </a:buClr>
              <a:buSzPts val="850"/>
              <a:buFont typeface="Courier New"/>
              <a:buNone/>
            </a:pPr>
            <a:r>
              <a:rPr b="1" lang="en-US" sz="850">
                <a:solidFill>
                  <a:srgbClr val="C8CEBC"/>
                </a:solidFill>
                <a:latin typeface="Courier New"/>
                <a:ea typeface="Courier New"/>
                <a:cs typeface="Courier New"/>
                <a:sym typeface="Courier New"/>
              </a:rPr>
              <a:t>StrategyPlan context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5120640" y="361188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6053328" y="361188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EBC"/>
              </a:buClr>
              <a:buSzPts val="850"/>
              <a:buFont typeface="Courier New"/>
              <a:buNone/>
            </a:pPr>
            <a:r>
              <a:rPr b="1" lang="en-US" sz="850">
                <a:solidFill>
                  <a:srgbClr val="C8CEBC"/>
                </a:solidFill>
                <a:latin typeface="Courier New"/>
                <a:ea typeface="Courier New"/>
                <a:cs typeface="Courier New"/>
                <a:sym typeface="Courier New"/>
              </a:rPr>
              <a:t>Groq fallback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6986016" y="361188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7918704" y="361188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EBC"/>
              </a:buClr>
              <a:buSzPts val="850"/>
              <a:buFont typeface="Courier New"/>
              <a:buNone/>
            </a:pPr>
            <a:r>
              <a:rPr b="1" lang="en-US" sz="850">
                <a:solidFill>
                  <a:srgbClr val="C8CEBC"/>
                </a:solidFill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594360" y="4041648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180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8A9180"/>
                </a:solidFill>
                <a:latin typeface="Courier New"/>
                <a:ea typeface="Courier New"/>
                <a:cs typeface="Courier New"/>
                <a:sym typeface="Courier New"/>
              </a:rPr>
              <a:t>Flowgram: /api/1/events  ·  /items  ·  /routines  ·  /weather  ·  /free-time  ·  /ics-import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411480" y="47091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E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C8CEBC"/>
                </a:solidFill>
                <a:latin typeface="Calibri"/>
                <a:ea typeface="Calibri"/>
                <a:cs typeface="Calibri"/>
                <a:sym typeface="Calibri"/>
              </a:rPr>
              <a:t>TECHNICAL EXECUTION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5BCA8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4"/>
          <p:cNvSpPr/>
          <p:nvPr/>
        </p:nvSpPr>
        <p:spPr>
          <a:xfrm>
            <a:off x="274320" y="18288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4"/>
          <p:cNvSpPr/>
          <p:nvPr/>
        </p:nvSpPr>
        <p:spPr>
          <a:xfrm>
            <a:off x="8686800" y="27432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4"/>
          <p:cNvSpPr/>
          <p:nvPr/>
        </p:nvSpPr>
        <p:spPr>
          <a:xfrm>
            <a:off x="137160" y="192024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4"/>
          <p:cNvSpPr/>
          <p:nvPr/>
        </p:nvSpPr>
        <p:spPr>
          <a:xfrm>
            <a:off x="8778240" y="164592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4"/>
          <p:cNvSpPr/>
          <p:nvPr/>
        </p:nvSpPr>
        <p:spPr>
          <a:xfrm>
            <a:off x="457200" y="438912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4"/>
          <p:cNvSpPr/>
          <p:nvPr/>
        </p:nvSpPr>
        <p:spPr>
          <a:xfrm>
            <a:off x="8503920" y="420624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4"/>
          <p:cNvSpPr/>
          <p:nvPr/>
        </p:nvSpPr>
        <p:spPr>
          <a:xfrm>
            <a:off x="3840480" y="13716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4"/>
          <p:cNvSpPr/>
          <p:nvPr/>
        </p:nvSpPr>
        <p:spPr>
          <a:xfrm>
            <a:off x="5577840" y="36576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4"/>
          <p:cNvSpPr/>
          <p:nvPr/>
        </p:nvSpPr>
        <p:spPr>
          <a:xfrm>
            <a:off x="2560320" y="475488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4"/>
          <p:cNvSpPr/>
          <p:nvPr/>
        </p:nvSpPr>
        <p:spPr>
          <a:xfrm>
            <a:off x="6858000" y="484632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4"/>
          <p:cNvSpPr/>
          <p:nvPr/>
        </p:nvSpPr>
        <p:spPr>
          <a:xfrm>
            <a:off x="1097280" y="283464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4"/>
          <p:cNvSpPr/>
          <p:nvPr/>
        </p:nvSpPr>
        <p:spPr>
          <a:xfrm>
            <a:off x="8046720" y="310896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4"/>
          <p:cNvSpPr/>
          <p:nvPr/>
        </p:nvSpPr>
        <p:spPr>
          <a:xfrm>
            <a:off x="3200400" y="448056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4"/>
          <p:cNvSpPr/>
          <p:nvPr/>
        </p:nvSpPr>
        <p:spPr>
          <a:xfrm>
            <a:off x="5394960" y="466344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4"/>
          <p:cNvSpPr/>
          <p:nvPr/>
        </p:nvSpPr>
        <p:spPr>
          <a:xfrm>
            <a:off x="365760" y="47731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18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A9180"/>
                </a:solidFill>
                <a:latin typeface="Calibri"/>
                <a:ea typeface="Calibri"/>
                <a:cs typeface="Calibri"/>
                <a:sym typeface="Calibri"/>
              </a:rPr>
              <a:t>D I F F E R E N T I A T I O 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4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F0EBE1"/>
                </a:solidFill>
                <a:latin typeface="Georgia"/>
                <a:ea typeface="Georgia"/>
                <a:cs typeface="Georgia"/>
                <a:sym typeface="Georgia"/>
              </a:rPr>
              <a:t>Why VISR is different.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Strategy clarity + tradeoff analysis + daily execution in one loop.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9" name="Google Shape;559;p14"/>
          <p:cNvGraphicFramePr/>
          <p:nvPr/>
        </p:nvGraphicFramePr>
        <p:xfrm>
          <a:off x="27432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{36378D74-5FBB-4D63-B0E5-4D2FCFB6FB92}</a:tableStyleId>
              </a:tblPr>
              <a:tblGrid>
                <a:gridCol w="2194550"/>
                <a:gridCol w="1280150"/>
                <a:gridCol w="1280150"/>
                <a:gridCol w="1280150"/>
                <a:gridCol w="1280150"/>
                <a:gridCol w="12801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BE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0EB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Capability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2E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BE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0EB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 managers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2E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BE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0EB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Calendars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2E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BE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0EB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chatbots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2E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BE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0EB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2E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BE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0EB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2E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Strategy clarity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2E4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A2E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Visual strategy map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2E4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A2E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Bottleneck detection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Suggested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2E4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A2E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Cut / keep decisions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Suggested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2E4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A2E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Opportunity validation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One-off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2E4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A2E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 execution layer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2E4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A2E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BC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Concrete next actions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Suggested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C3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4C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2E4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A2E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5BC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EB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BE1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5"/>
          <p:cNvSpPr/>
          <p:nvPr/>
        </p:nvSpPr>
        <p:spPr>
          <a:xfrm>
            <a:off x="274320" y="18288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5"/>
          <p:cNvSpPr/>
          <p:nvPr/>
        </p:nvSpPr>
        <p:spPr>
          <a:xfrm>
            <a:off x="8686800" y="27432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5"/>
          <p:cNvSpPr/>
          <p:nvPr/>
        </p:nvSpPr>
        <p:spPr>
          <a:xfrm>
            <a:off x="137160" y="192024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5"/>
          <p:cNvSpPr/>
          <p:nvPr/>
        </p:nvSpPr>
        <p:spPr>
          <a:xfrm>
            <a:off x="8778240" y="164592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5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5"/>
          <p:cNvSpPr/>
          <p:nvPr/>
        </p:nvSpPr>
        <p:spPr>
          <a:xfrm>
            <a:off x="8503920" y="420624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5"/>
          <p:cNvSpPr/>
          <p:nvPr/>
        </p:nvSpPr>
        <p:spPr>
          <a:xfrm>
            <a:off x="3840480" y="13716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5"/>
          <p:cNvSpPr/>
          <p:nvPr/>
        </p:nvSpPr>
        <p:spPr>
          <a:xfrm>
            <a:off x="5577840" y="36576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5"/>
          <p:cNvSpPr/>
          <p:nvPr/>
        </p:nvSpPr>
        <p:spPr>
          <a:xfrm>
            <a:off x="2560320" y="475488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5"/>
          <p:cNvSpPr/>
          <p:nvPr/>
        </p:nvSpPr>
        <p:spPr>
          <a:xfrm>
            <a:off x="6858000" y="484632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5"/>
          <p:cNvSpPr/>
          <p:nvPr/>
        </p:nvSpPr>
        <p:spPr>
          <a:xfrm>
            <a:off x="1097280" y="283464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5"/>
          <p:cNvSpPr/>
          <p:nvPr/>
        </p:nvSpPr>
        <p:spPr>
          <a:xfrm>
            <a:off x="8046720" y="3108960"/>
            <a:ext cx="73152" cy="7315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5"/>
          <p:cNvSpPr/>
          <p:nvPr/>
        </p:nvSpPr>
        <p:spPr>
          <a:xfrm>
            <a:off x="3200400" y="448056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5"/>
          <p:cNvSpPr/>
          <p:nvPr/>
        </p:nvSpPr>
        <p:spPr>
          <a:xfrm>
            <a:off x="5394960" y="4663440"/>
            <a:ext cx="118872" cy="118872"/>
          </a:xfrm>
          <a:prstGeom prst="ellipse">
            <a:avLst/>
          </a:prstGeom>
          <a:solidFill>
            <a:srgbClr val="B0A89E">
              <a:alpha val="70196"/>
            </a:srgbClr>
          </a:solidFill>
          <a:ln cap="flat" cmpd="sng" w="12700">
            <a:solidFill>
              <a:srgbClr val="B0A8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5"/>
          <p:cNvSpPr/>
          <p:nvPr/>
        </p:nvSpPr>
        <p:spPr>
          <a:xfrm>
            <a:off x="365760" y="47731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A8F86"/>
                </a:solidFill>
                <a:latin typeface="Calibri"/>
                <a:ea typeface="Calibri"/>
                <a:cs typeface="Calibri"/>
                <a:sym typeface="Calibri"/>
              </a:rPr>
              <a:t>R O A D M A P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5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9A7060"/>
                </a:solidFill>
                <a:latin typeface="Georgia"/>
                <a:ea typeface="Georgia"/>
                <a:cs typeface="Georgia"/>
                <a:sym typeface="Georgia"/>
              </a:rPr>
              <a:t>What we built. What is next.</a:t>
            </a:r>
            <a:endParaRPr sz="4000">
              <a:solidFill>
                <a:srgbClr val="9A7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5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9A8F86"/>
                </a:solidFill>
                <a:latin typeface="Calibri"/>
                <a:ea typeface="Calibri"/>
                <a:cs typeface="Calibri"/>
                <a:sym typeface="Calibri"/>
              </a:rPr>
              <a:t>The MVP proves the loop. The roadmap deepens integration.</a:t>
            </a:r>
            <a:endParaRPr sz="1300">
              <a:solidFill>
                <a:srgbClr val="9A8F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2" name="Google Shape;582;p15"/>
          <p:cNvCxnSpPr/>
          <p:nvPr/>
        </p:nvCxnSpPr>
        <p:spPr>
          <a:xfrm>
            <a:off x="731520" y="2011680"/>
            <a:ext cx="7680960" cy="0"/>
          </a:xfrm>
          <a:prstGeom prst="straightConnector1">
            <a:avLst/>
          </a:prstGeom>
          <a:noFill/>
          <a:ln cap="flat" cmpd="sng" w="19050">
            <a:solidFill>
              <a:srgbClr val="D6DB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3" name="Google Shape;583;p15"/>
          <p:cNvSpPr/>
          <p:nvPr/>
        </p:nvSpPr>
        <p:spPr>
          <a:xfrm>
            <a:off x="384048" y="1901952"/>
            <a:ext cx="329184" cy="329184"/>
          </a:xfrm>
          <a:prstGeom prst="ellipse">
            <a:avLst/>
          </a:prstGeom>
          <a:solidFill>
            <a:srgbClr val="7A2E4B"/>
          </a:solidFill>
          <a:ln cap="flat" cmpd="sng" w="1905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5"/>
          <p:cNvSpPr/>
          <p:nvPr/>
        </p:nvSpPr>
        <p:spPr>
          <a:xfrm>
            <a:off x="-182880" y="153619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MVP — Built Now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5"/>
          <p:cNvSpPr/>
          <p:nvPr/>
        </p:nvSpPr>
        <p:spPr>
          <a:xfrm>
            <a:off x="3950208" y="1901952"/>
            <a:ext cx="329184" cy="329184"/>
          </a:xfrm>
          <a:prstGeom prst="ellipse">
            <a:avLst/>
          </a:prstGeom>
          <a:solidFill>
            <a:srgbClr val="4A9E8A"/>
          </a:solidFill>
          <a:ln cap="flat" cmpd="sng" w="1905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5"/>
          <p:cNvSpPr/>
          <p:nvPr/>
        </p:nvSpPr>
        <p:spPr>
          <a:xfrm>
            <a:off x="3383280" y="153619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8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4A9E8A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5"/>
          <p:cNvSpPr/>
          <p:nvPr/>
        </p:nvSpPr>
        <p:spPr>
          <a:xfrm>
            <a:off x="7424928" y="1901952"/>
            <a:ext cx="329184" cy="329184"/>
          </a:xfrm>
          <a:prstGeom prst="ellipse">
            <a:avLst/>
          </a:prstGeom>
          <a:solidFill>
            <a:srgbClr val="F0EBE1"/>
          </a:solidFill>
          <a:ln cap="flat" cmpd="sng" w="1905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5"/>
          <p:cNvSpPr/>
          <p:nvPr/>
        </p:nvSpPr>
        <p:spPr>
          <a:xfrm>
            <a:off x="6858000" y="153619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7A2E4B"/>
                </a:solidFill>
                <a:latin typeface="Calibri"/>
                <a:ea typeface="Calibri"/>
                <a:cs typeface="Calibri"/>
                <a:sym typeface="Calibri"/>
              </a:rPr>
              <a:t>V1 Launch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5"/>
          <p:cNvSpPr/>
          <p:nvPr/>
        </p:nvSpPr>
        <p:spPr>
          <a:xfrm>
            <a:off x="274320" y="2331720"/>
            <a:ext cx="2880360" cy="73152"/>
          </a:xfrm>
          <a:prstGeom prst="rect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5"/>
          <p:cNvSpPr/>
          <p:nvPr/>
        </p:nvSpPr>
        <p:spPr>
          <a:xfrm>
            <a:off x="320040" y="2487168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· Strategy Web / GoalTree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5"/>
          <p:cNvSpPr/>
          <p:nvPr/>
        </p:nvSpPr>
        <p:spPr>
          <a:xfrm>
            <a:off x="320040" y="2825496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· Dashboard: bottleneck, alignment, cut list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5"/>
          <p:cNvSpPr/>
          <p:nvPr/>
        </p:nvSpPr>
        <p:spPr>
          <a:xfrm>
            <a:off x="320040" y="3163824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· Today Focus overlay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5"/>
          <p:cNvSpPr/>
          <p:nvPr/>
        </p:nvSpPr>
        <p:spPr>
          <a:xfrm>
            <a:off x="320040" y="3502152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· Opportunity Validation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5"/>
          <p:cNvSpPr/>
          <p:nvPr/>
        </p:nvSpPr>
        <p:spPr>
          <a:xfrm>
            <a:off x="320040" y="3840480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· Assessments + AI generation (Groq + Zod)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5"/>
          <p:cNvSpPr/>
          <p:nvPr/>
        </p:nvSpPr>
        <p:spPr>
          <a:xfrm>
            <a:off x="320040" y="4178808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· : Flowgram: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 Week View, Notes Hub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5"/>
          <p:cNvSpPr/>
          <p:nvPr/>
        </p:nvSpPr>
        <p:spPr>
          <a:xfrm>
            <a:off x="320040" y="4517136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· Pillar Kanban + AI task generation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5"/>
          <p:cNvSpPr/>
          <p:nvPr/>
        </p:nvSpPr>
        <p:spPr>
          <a:xfrm>
            <a:off x="3337560" y="2331720"/>
            <a:ext cx="2880360" cy="73152"/>
          </a:xfrm>
          <a:prstGeom prst="rect">
            <a:avLst/>
          </a:prstGeom>
          <a:solidFill>
            <a:srgbClr val="4A9E8A"/>
          </a:solidFill>
          <a:ln cap="flat" cmpd="sng" w="12700">
            <a:solidFill>
              <a:srgbClr val="4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5"/>
          <p:cNvSpPr/>
          <p:nvPr/>
        </p:nvSpPr>
        <p:spPr>
          <a:xfrm>
            <a:off x="3383280" y="2487168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· Auto-schedule strategy actions into Flowgram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5"/>
          <p:cNvSpPr/>
          <p:nvPr/>
        </p:nvSpPr>
        <p:spPr>
          <a:xfrm>
            <a:off x="3383280" y="2825496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· Compact Strategy Brief drawer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5"/>
          <p:cNvSpPr/>
          <p:nvPr/>
        </p:nvSpPr>
        <p:spPr>
          <a:xfrm>
            <a:off x="3383280" y="3163824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· Authenticated saved sessions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3383280" y="3502152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· Deeper calendar integration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5"/>
          <p:cNvSpPr/>
          <p:nvPr/>
        </p:nvSpPr>
        <p:spPr>
          <a:xfrm>
            <a:off x="3383280" y="3840480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· Richer node drill-down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5"/>
          <p:cNvSpPr/>
          <p:nvPr/>
        </p:nvSpPr>
        <p:spPr>
          <a:xfrm>
            <a:off x="3383280" y="4178808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· Mobile optimisation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5"/>
          <p:cNvSpPr/>
          <p:nvPr/>
        </p:nvSpPr>
        <p:spPr>
          <a:xfrm>
            <a:off x="3383280" y="4517136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· Shareable plans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5"/>
          <p:cNvSpPr/>
          <p:nvPr/>
        </p:nvSpPr>
        <p:spPr>
          <a:xfrm>
            <a:off x="6400800" y="2331720"/>
            <a:ext cx="2880360" cy="73152"/>
          </a:xfrm>
          <a:prstGeom prst="rect">
            <a:avLst/>
          </a:prstGeom>
          <a:solidFill>
            <a:srgbClr val="7A2E4B"/>
          </a:solidFill>
          <a:ln cap="flat" cmpd="sng" w="12700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5"/>
          <p:cNvSpPr/>
          <p:nvPr/>
        </p:nvSpPr>
        <p:spPr>
          <a:xfrm>
            <a:off x="6446520" y="2487168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· Semester-aware planning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6446520" y="2825496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· University partnerships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5"/>
          <p:cNvSpPr/>
          <p:nvPr/>
        </p:nvSpPr>
        <p:spPr>
          <a:xfrm>
            <a:off x="6446520" y="3163824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· Advisor / mentor views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5"/>
          <p:cNvSpPr/>
          <p:nvPr/>
        </p:nvSpPr>
        <p:spPr>
          <a:xfrm>
            <a:off x="6446520" y="3502152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· Peer benchmarks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5"/>
          <p:cNvSpPr/>
          <p:nvPr/>
        </p:nvSpPr>
        <p:spPr>
          <a:xfrm>
            <a:off x="6446520" y="3840480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E64"/>
                </a:solidFill>
                <a:latin typeface="Calibri"/>
                <a:ea typeface="Calibri"/>
                <a:cs typeface="Calibri"/>
                <a:sym typeface="Calibri"/>
              </a:rPr>
              <a:t>· Advisor integrations</a:t>
            </a:r>
            <a:endParaRPr sz="1000">
              <a:solidFill>
                <a:srgbClr val="7A6E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5BCA8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/>
          <p:nvPr/>
        </p:nvSpPr>
        <p:spPr>
          <a:xfrm>
            <a:off x="274320" y="18288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6"/>
          <p:cNvSpPr/>
          <p:nvPr/>
        </p:nvSpPr>
        <p:spPr>
          <a:xfrm>
            <a:off x="8686800" y="27432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6"/>
          <p:cNvSpPr/>
          <p:nvPr/>
        </p:nvSpPr>
        <p:spPr>
          <a:xfrm>
            <a:off x="137160" y="192024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6"/>
          <p:cNvSpPr/>
          <p:nvPr/>
        </p:nvSpPr>
        <p:spPr>
          <a:xfrm>
            <a:off x="8778240" y="164592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6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6"/>
          <p:cNvSpPr/>
          <p:nvPr/>
        </p:nvSpPr>
        <p:spPr>
          <a:xfrm>
            <a:off x="8503920" y="420624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6"/>
          <p:cNvSpPr/>
          <p:nvPr/>
        </p:nvSpPr>
        <p:spPr>
          <a:xfrm>
            <a:off x="3840480" y="13716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6"/>
          <p:cNvSpPr/>
          <p:nvPr/>
        </p:nvSpPr>
        <p:spPr>
          <a:xfrm>
            <a:off x="5577840" y="36576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6"/>
          <p:cNvSpPr/>
          <p:nvPr/>
        </p:nvSpPr>
        <p:spPr>
          <a:xfrm>
            <a:off x="2560320" y="475488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6"/>
          <p:cNvSpPr/>
          <p:nvPr/>
        </p:nvSpPr>
        <p:spPr>
          <a:xfrm>
            <a:off x="6858000" y="484632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6"/>
          <p:cNvSpPr/>
          <p:nvPr/>
        </p:nvSpPr>
        <p:spPr>
          <a:xfrm>
            <a:off x="1097280" y="283464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6"/>
          <p:cNvSpPr/>
          <p:nvPr/>
        </p:nvSpPr>
        <p:spPr>
          <a:xfrm>
            <a:off x="8046720" y="3108960"/>
            <a:ext cx="118872" cy="11887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6"/>
          <p:cNvSpPr/>
          <p:nvPr/>
        </p:nvSpPr>
        <p:spPr>
          <a:xfrm>
            <a:off x="3200400" y="448056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6"/>
          <p:cNvSpPr/>
          <p:nvPr/>
        </p:nvSpPr>
        <p:spPr>
          <a:xfrm>
            <a:off x="5394960" y="4663440"/>
            <a:ext cx="73152" cy="73152"/>
          </a:xfrm>
          <a:prstGeom prst="ellipse">
            <a:avLst/>
          </a:prstGeom>
          <a:solidFill>
            <a:srgbClr val="9BA592">
              <a:alpha val="70196"/>
            </a:srgbClr>
          </a:solidFill>
          <a:ln cap="flat" cmpd="sng" w="12700">
            <a:solidFill>
              <a:srgbClr val="9BA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6"/>
          <p:cNvSpPr/>
          <p:nvPr/>
        </p:nvSpPr>
        <p:spPr>
          <a:xfrm>
            <a:off x="320040" y="2148840"/>
            <a:ext cx="822960" cy="822960"/>
          </a:xfrm>
          <a:prstGeom prst="ellipse">
            <a:avLst/>
          </a:prstGeom>
          <a:solidFill>
            <a:srgbClr val="7A2E4B">
              <a:alpha val="80000"/>
            </a:srgbClr>
          </a:solidFill>
          <a:ln cap="flat" cmpd="sng" w="9525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6"/>
          <p:cNvSpPr/>
          <p:nvPr/>
        </p:nvSpPr>
        <p:spPr>
          <a:xfrm>
            <a:off x="7726680" y="1417320"/>
            <a:ext cx="640080" cy="640080"/>
          </a:xfrm>
          <a:prstGeom prst="ellipse">
            <a:avLst/>
          </a:prstGeom>
          <a:solidFill>
            <a:srgbClr val="7A2E4B">
              <a:alpha val="80000"/>
            </a:srgbClr>
          </a:solidFill>
          <a:ln cap="flat" cmpd="sng" w="9525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6"/>
          <p:cNvSpPr/>
          <p:nvPr/>
        </p:nvSpPr>
        <p:spPr>
          <a:xfrm>
            <a:off x="1115568" y="3584448"/>
            <a:ext cx="512064" cy="512064"/>
          </a:xfrm>
          <a:prstGeom prst="ellipse">
            <a:avLst/>
          </a:prstGeom>
          <a:solidFill>
            <a:srgbClr val="D6DBCE">
              <a:alpha val="80000"/>
            </a:srgbClr>
          </a:solidFill>
          <a:ln cap="flat" cmpd="sng" w="9525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6"/>
          <p:cNvSpPr/>
          <p:nvPr/>
        </p:nvSpPr>
        <p:spPr>
          <a:xfrm>
            <a:off x="7242048" y="3218688"/>
            <a:ext cx="512064" cy="512064"/>
          </a:xfrm>
          <a:prstGeom prst="ellipse">
            <a:avLst/>
          </a:prstGeom>
          <a:solidFill>
            <a:srgbClr val="D6DBCE">
              <a:alpha val="80000"/>
            </a:srgbClr>
          </a:solidFill>
          <a:ln cap="flat" cmpd="sng" w="9525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6"/>
          <p:cNvSpPr/>
          <p:nvPr/>
        </p:nvSpPr>
        <p:spPr>
          <a:xfrm>
            <a:off x="201168" y="3310128"/>
            <a:ext cx="329184" cy="329184"/>
          </a:xfrm>
          <a:prstGeom prst="ellipse">
            <a:avLst/>
          </a:prstGeom>
          <a:solidFill>
            <a:srgbClr val="D6DBCE">
              <a:alpha val="80000"/>
            </a:srgbClr>
          </a:solidFill>
          <a:ln cap="flat" cmpd="sng" w="9525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6"/>
          <p:cNvSpPr/>
          <p:nvPr/>
        </p:nvSpPr>
        <p:spPr>
          <a:xfrm>
            <a:off x="8247888" y="2395728"/>
            <a:ext cx="329184" cy="329184"/>
          </a:xfrm>
          <a:prstGeom prst="ellipse">
            <a:avLst/>
          </a:prstGeom>
          <a:solidFill>
            <a:srgbClr val="D6DBCE">
              <a:alpha val="80000"/>
            </a:srgbClr>
          </a:solidFill>
          <a:ln cap="flat" cmpd="sng" w="9525">
            <a:solidFill>
              <a:srgbClr val="7A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6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4600"/>
              <a:buFont typeface="Georgia"/>
              <a:buNone/>
            </a:pPr>
            <a:r>
              <a:rPr b="1" lang="en-US" sz="4600">
                <a:solidFill>
                  <a:srgbClr val="F0EBE1"/>
                </a:solidFill>
                <a:latin typeface="Georgia"/>
                <a:ea typeface="Georgia"/>
                <a:cs typeface="Georgia"/>
                <a:sym typeface="Georgia"/>
              </a:rPr>
              <a:t>Stop juggling everything.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6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4B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7A2E4B"/>
                </a:solidFill>
                <a:latin typeface="Georgia"/>
                <a:ea typeface="Georgia"/>
                <a:cs typeface="Georgia"/>
                <a:sym typeface="Georgia"/>
              </a:rPr>
              <a:t>Move with intention.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6"/>
          <p:cNvSpPr/>
          <p:nvPr/>
        </p:nvSpPr>
        <p:spPr>
          <a:xfrm>
            <a:off x="2286000" y="233172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→  Choose the destination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6"/>
          <p:cNvSpPr/>
          <p:nvPr/>
        </p:nvSpPr>
        <p:spPr>
          <a:xfrm>
            <a:off x="2286000" y="2770632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→  See the strategy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6"/>
          <p:cNvSpPr/>
          <p:nvPr/>
        </p:nvSpPr>
        <p:spPr>
          <a:xfrm>
            <a:off x="2286000" y="3209544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→  Cut the noise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6"/>
          <p:cNvSpPr/>
          <p:nvPr/>
        </p:nvSpPr>
        <p:spPr>
          <a:xfrm>
            <a:off x="2286000" y="3648456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→  Validate new yeses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6"/>
          <p:cNvSpPr/>
          <p:nvPr/>
        </p:nvSpPr>
        <p:spPr>
          <a:xfrm>
            <a:off x="2286000" y="4087368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→  Move through the week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6"/>
          <p:cNvSpPr/>
          <p:nvPr/>
        </p:nvSpPr>
        <p:spPr>
          <a:xfrm>
            <a:off x="457200" y="470916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0EBE1"/>
                </a:solidFill>
                <a:latin typeface="Calibri"/>
                <a:ea typeface="Calibri"/>
                <a:cs typeface="Calibri"/>
                <a:sym typeface="Calibri"/>
              </a:rPr>
              <a:t>VISR.app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6"/>
          <p:cNvSpPr/>
          <p:nvPr/>
        </p:nvSpPr>
        <p:spPr>
          <a:xfrm>
            <a:off x="365760" y="486460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18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A9180"/>
                </a:solidFill>
                <a:latin typeface="Calibri"/>
                <a:ea typeface="Calibri"/>
                <a:cs typeface="Calibri"/>
                <a:sym typeface="Calibri"/>
              </a:rPr>
              <a:t>M V P  ·  C U R S O R  H A C K A T H O 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