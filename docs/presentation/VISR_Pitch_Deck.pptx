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292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0690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0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42890" cy="42890"/>
          </a:xfrm>
          <a:prstGeom prst="ellipse">
            <a:avLst/>
          </a:prstGeom>
          <a:solidFill>
            <a:srgbClr val="C4607B">
              <a:alpha val="1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0" y="731520"/>
            <a:ext cx="44314" cy="44314"/>
          </a:xfrm>
          <a:prstGeom prst="ellipse">
            <a:avLst/>
          </a:prstGeom>
          <a:solidFill>
            <a:srgbClr val="C4607B">
              <a:alpha val="38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4480560"/>
            <a:ext cx="31331" cy="31331"/>
          </a:xfrm>
          <a:prstGeom prst="ellipse">
            <a:avLst/>
          </a:prstGeom>
          <a:solidFill>
            <a:srgbClr val="C4607B">
              <a:alpha val="3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0" y="4663440"/>
            <a:ext cx="23321" cy="23321"/>
          </a:xfrm>
          <a:prstGeom prst="ellipse">
            <a:avLst/>
          </a:prstGeom>
          <a:solidFill>
            <a:srgbClr val="C4607B">
              <a:alpha val="2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412480" y="365760"/>
            <a:ext cx="28713" cy="28713"/>
          </a:xfrm>
          <a:prstGeom prst="ellipse">
            <a:avLst/>
          </a:prstGeom>
          <a:solidFill>
            <a:srgbClr val="C4607B">
              <a:alpha val="1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0" y="1005840"/>
            <a:ext cx="43875" cy="43875"/>
          </a:xfrm>
          <a:prstGeom prst="ellipse">
            <a:avLst/>
          </a:prstGeom>
          <a:solidFill>
            <a:srgbClr val="C4607B">
              <a:alpha val="16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0" y="4389120"/>
            <a:ext cx="31843" cy="31843"/>
          </a:xfrm>
          <a:prstGeom prst="ellipse">
            <a:avLst/>
          </a:prstGeom>
          <a:solidFill>
            <a:srgbClr val="C4607B">
              <a:alpha val="23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132320" y="4572000"/>
            <a:ext cx="22880" cy="22880"/>
          </a:xfrm>
          <a:prstGeom prst="ellipse">
            <a:avLst/>
          </a:prstGeom>
          <a:solidFill>
            <a:srgbClr val="C4607B">
              <a:alpha val="22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274320"/>
            <a:ext cx="23107" cy="23107"/>
          </a:xfrm>
          <a:prstGeom prst="ellipse">
            <a:avLst/>
          </a:prstGeom>
          <a:solidFill>
            <a:srgbClr val="C4607B">
              <a:alpha val="16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06240" y="4846320"/>
            <a:ext cx="46950" cy="46950"/>
          </a:xfrm>
          <a:prstGeom prst="ellipse">
            <a:avLst/>
          </a:prstGeom>
          <a:solidFill>
            <a:srgbClr val="C4607B">
              <a:alpha val="4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37160" y="2560320"/>
            <a:ext cx="29497" cy="29497"/>
          </a:xfrm>
          <a:prstGeom prst="ellipse">
            <a:avLst/>
          </a:prstGeom>
          <a:solidFill>
            <a:srgbClr val="C4607B">
              <a:alpha val="3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869680" y="2194560"/>
            <a:ext cx="57261" cy="57261"/>
          </a:xfrm>
          <a:prstGeom prst="ellipse">
            <a:avLst/>
          </a:prstGeom>
          <a:solidFill>
            <a:srgbClr val="C4607B">
              <a:alpha val="3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834640" y="4297680"/>
            <a:ext cx="56558" cy="56558"/>
          </a:xfrm>
          <a:prstGeom prst="ellipse">
            <a:avLst/>
          </a:prstGeom>
          <a:solidFill>
            <a:srgbClr val="C4607B">
              <a:alpha val="1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00800" y="182880"/>
            <a:ext cx="59240" cy="59240"/>
          </a:xfrm>
          <a:prstGeom prst="ellipse">
            <a:avLst/>
          </a:prstGeom>
          <a:solidFill>
            <a:srgbClr val="C4607B">
              <a:alpha val="16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05840" y="3200400"/>
            <a:ext cx="57186" cy="57186"/>
          </a:xfrm>
          <a:prstGeom prst="ellipse">
            <a:avLst/>
          </a:prstGeom>
          <a:solidFill>
            <a:srgbClr val="C4607B">
              <a:alpha val="34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046720" y="2926080"/>
            <a:ext cx="41924" cy="41924"/>
          </a:xfrm>
          <a:prstGeom prst="ellipse">
            <a:avLst/>
          </a:prstGeom>
          <a:solidFill>
            <a:srgbClr val="C4607B">
              <a:alpha val="2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760720" y="4754880"/>
            <a:ext cx="47227" cy="47227"/>
          </a:xfrm>
          <a:prstGeom prst="ellipse">
            <a:avLst/>
          </a:prstGeom>
          <a:solidFill>
            <a:srgbClr val="C4607B">
              <a:alpha val="3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651760" y="548640"/>
            <a:ext cx="43276" cy="43276"/>
          </a:xfrm>
          <a:prstGeom prst="ellipse">
            <a:avLst/>
          </a:prstGeom>
          <a:solidFill>
            <a:srgbClr val="C4607B">
              <a:alpha val="3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09360" y="4480560"/>
            <a:ext cx="52907" cy="52907"/>
          </a:xfrm>
          <a:prstGeom prst="ellipse">
            <a:avLst/>
          </a:prstGeom>
          <a:solidFill>
            <a:srgbClr val="C4607B">
              <a:alpha val="1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0" y="91440"/>
            <a:ext cx="48938" cy="48938"/>
          </a:xfrm>
          <a:prstGeom prst="ellipse">
            <a:avLst/>
          </a:prstGeom>
          <a:solidFill>
            <a:srgbClr val="C4607B">
              <a:alpha val="31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8640" y="1371600"/>
            <a:ext cx="30264" cy="30264"/>
          </a:xfrm>
          <a:prstGeom prst="ellipse">
            <a:avLst/>
          </a:prstGeom>
          <a:solidFill>
            <a:srgbClr val="C4607B">
              <a:alpha val="1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321040" y="1645920"/>
            <a:ext cx="27293" cy="27293"/>
          </a:xfrm>
          <a:prstGeom prst="ellipse">
            <a:avLst/>
          </a:prstGeom>
          <a:solidFill>
            <a:srgbClr val="C4607B">
              <a:alpha val="3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560320" y="2651760"/>
            <a:ext cx="2011680" cy="82296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 flipH="1">
            <a:off x="4814120" y="2763932"/>
            <a:ext cx="1645920" cy="493654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828800" y="3474720"/>
            <a:ext cx="2743200" cy="54864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572000" y="3474720"/>
            <a:ext cx="2743200" cy="18288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0" y="3474720"/>
            <a:ext cx="9144" cy="118872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189781" y="3092501"/>
            <a:ext cx="764438" cy="764438"/>
          </a:xfrm>
          <a:prstGeom prst="ellipse">
            <a:avLst/>
          </a:prstGeom>
          <a:solidFill>
            <a:srgbClr val="C4607B"/>
          </a:solidFill>
          <a:ln w="12700">
            <a:solidFill>
              <a:srgbClr val="C4607B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414016" y="2505456"/>
            <a:ext cx="292608" cy="292608"/>
          </a:xfrm>
          <a:prstGeom prst="ellipse">
            <a:avLst/>
          </a:prstGeom>
          <a:solidFill>
            <a:srgbClr val="C4607B">
              <a:alpha val="8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737360" y="284378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0EBE3"/>
                </a:solidFill>
              </a:rPr>
              <a:t>Strategy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37376" y="2505456"/>
            <a:ext cx="292608" cy="292608"/>
          </a:xfrm>
          <a:prstGeom prst="ellipse">
            <a:avLst/>
          </a:prstGeom>
          <a:solidFill>
            <a:srgbClr val="C4607B">
              <a:alpha val="8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760720" y="284378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0EBE3"/>
                </a:solidFill>
              </a:rPr>
              <a:t>Career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616378" y="3388204"/>
            <a:ext cx="292608" cy="292608"/>
          </a:xfrm>
          <a:prstGeom prst="ellipse">
            <a:avLst/>
          </a:prstGeom>
          <a:solidFill>
            <a:srgbClr val="C4607B">
              <a:alpha val="8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14400" y="368081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0EBE3"/>
                </a:solidFill>
              </a:rPr>
              <a:t>Focus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168896" y="3511296"/>
            <a:ext cx="292608" cy="292608"/>
          </a:xfrm>
          <a:prstGeom prst="ellipse">
            <a:avLst/>
          </a:prstGeom>
          <a:solidFill>
            <a:srgbClr val="C4607B">
              <a:alpha val="8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492240" y="384962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0EBE3"/>
                </a:solidFill>
              </a:rPr>
              <a:t>Network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25696" y="4517136"/>
            <a:ext cx="292608" cy="292608"/>
          </a:xfrm>
          <a:prstGeom prst="ellipse">
            <a:avLst/>
          </a:prstGeom>
          <a:solidFill>
            <a:srgbClr val="C4607B">
              <a:alpha val="8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749040" y="48554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0EBE3"/>
                </a:solidFill>
              </a:rPr>
              <a:t>Daily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14400" y="5029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0EB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VISR</a:t>
            </a:r>
            <a:endParaRPr lang="en-US" sz="8000" dirty="0"/>
          </a:p>
        </p:txBody>
      </p:sp>
      <p:sp>
        <p:nvSpPr>
          <p:cNvPr id="41" name="Text 39"/>
          <p:cNvSpPr/>
          <p:nvPr/>
        </p:nvSpPr>
        <p:spPr>
          <a:xfrm>
            <a:off x="914400" y="1664208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4607B"/>
                </a:solidFill>
              </a:rPr>
              <a:t>You say the what. VISR shows you how.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923544" y="2520315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8B8D8"/>
                </a:solidFill>
              </a:rPr>
              <a:t>For students who need direction and follow-through.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411480" y="4709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C8B8D8"/>
                </a:solidFill>
              </a:rPr>
              <a:t>MVP · CURSOR HACKATHON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0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41055" cy="41055"/>
          </a:xfrm>
          <a:prstGeom prst="ellipse">
            <a:avLst/>
          </a:prstGeom>
          <a:solidFill>
            <a:srgbClr val="C4607B">
              <a:alpha val="31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0" y="731520"/>
            <a:ext cx="29498" cy="29498"/>
          </a:xfrm>
          <a:prstGeom prst="ellipse">
            <a:avLst/>
          </a:prstGeom>
          <a:solidFill>
            <a:srgbClr val="C4607B">
              <a:alpha val="1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4480560"/>
            <a:ext cx="23497" cy="23497"/>
          </a:xfrm>
          <a:prstGeom prst="ellipse">
            <a:avLst/>
          </a:prstGeom>
          <a:solidFill>
            <a:srgbClr val="C4607B">
              <a:alpha val="31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0" y="4663440"/>
            <a:ext cx="51599" cy="51599"/>
          </a:xfrm>
          <a:prstGeom prst="ellipse">
            <a:avLst/>
          </a:prstGeom>
          <a:solidFill>
            <a:srgbClr val="C4607B">
              <a:alpha val="32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412480" y="365760"/>
            <a:ext cx="24657" cy="24657"/>
          </a:xfrm>
          <a:prstGeom prst="ellipse">
            <a:avLst/>
          </a:prstGeom>
          <a:solidFill>
            <a:srgbClr val="C4607B">
              <a:alpha val="21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0" y="1005840"/>
            <a:ext cx="61105" cy="61105"/>
          </a:xfrm>
          <a:prstGeom prst="ellipse">
            <a:avLst/>
          </a:prstGeom>
          <a:solidFill>
            <a:srgbClr val="C4607B">
              <a:alpha val="21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0" y="4389120"/>
            <a:ext cx="23063" cy="23063"/>
          </a:xfrm>
          <a:prstGeom prst="ellipse">
            <a:avLst/>
          </a:prstGeom>
          <a:solidFill>
            <a:srgbClr val="C4607B">
              <a:alpha val="4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132320" y="4572000"/>
            <a:ext cx="53282" cy="53282"/>
          </a:xfrm>
          <a:prstGeom prst="ellipse">
            <a:avLst/>
          </a:prstGeom>
          <a:solidFill>
            <a:srgbClr val="C4607B">
              <a:alpha val="2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274320"/>
            <a:ext cx="60946" cy="60946"/>
          </a:xfrm>
          <a:prstGeom prst="ellipse">
            <a:avLst/>
          </a:prstGeom>
          <a:solidFill>
            <a:srgbClr val="C4607B">
              <a:alpha val="2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06240" y="4846320"/>
            <a:ext cx="44935" cy="44935"/>
          </a:xfrm>
          <a:prstGeom prst="ellipse">
            <a:avLst/>
          </a:prstGeom>
          <a:solidFill>
            <a:srgbClr val="C4607B">
              <a:alpha val="33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37160" y="2560320"/>
            <a:ext cx="55072" cy="55072"/>
          </a:xfrm>
          <a:prstGeom prst="ellipse">
            <a:avLst/>
          </a:prstGeom>
          <a:solidFill>
            <a:srgbClr val="C4607B">
              <a:alpha val="22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869680" y="2194560"/>
            <a:ext cx="46273" cy="46273"/>
          </a:xfrm>
          <a:prstGeom prst="ellipse">
            <a:avLst/>
          </a:prstGeom>
          <a:solidFill>
            <a:srgbClr val="C4607B">
              <a:alpha val="1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834640" y="4297680"/>
            <a:ext cx="39952" cy="39952"/>
          </a:xfrm>
          <a:prstGeom prst="ellipse">
            <a:avLst/>
          </a:prstGeom>
          <a:solidFill>
            <a:srgbClr val="C4607B">
              <a:alpha val="16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00800" y="182880"/>
            <a:ext cx="34181" cy="34181"/>
          </a:xfrm>
          <a:prstGeom prst="ellipse">
            <a:avLst/>
          </a:prstGeom>
          <a:solidFill>
            <a:srgbClr val="C4607B">
              <a:alpha val="3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0EB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8B8D8"/>
                </a:solidFill>
              </a:rPr>
              <a:t>Ambitious students are not unproductive — they are unstrategic.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" y="1325880"/>
            <a:ext cx="2194560" cy="2194560"/>
          </a:xfrm>
          <a:prstGeom prst="ellipse">
            <a:avLst/>
          </a:prstGeom>
          <a:solidFill>
            <a:srgbClr val="3A1A50"/>
          </a:solidFill>
          <a:ln w="254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173736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C460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411480" y="251460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8B8D8"/>
                </a:solidFill>
              </a:rPr>
              <a:t>of students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8B8D8"/>
                </a:solidFill>
              </a:rPr>
              <a:t>procrastinate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8B8D8"/>
                </a:solidFill>
              </a:rPr>
              <a:t>due to poor planning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017520" y="1389888"/>
            <a:ext cx="5669280" cy="804672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017520" y="1389888"/>
            <a:ext cx="50292" cy="804672"/>
          </a:xfrm>
          <a:prstGeom prst="rect">
            <a:avLst/>
          </a:prstGeom>
          <a:solidFill>
            <a:srgbClr val="C4607B"/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0" y="1463040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BE3"/>
                </a:solidFill>
              </a:rPr>
              <a:t>5 courses, a job, 2 clubs, side projects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00400" y="1737360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B8D8"/>
                </a:solidFill>
              </a:rPr>
              <a:t>Every task feels equally urgent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017520" y="2350008"/>
            <a:ext cx="5669280" cy="804672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017520" y="2350008"/>
            <a:ext cx="50292" cy="804672"/>
          </a:xfrm>
          <a:prstGeom prst="rect">
            <a:avLst/>
          </a:prstGeom>
          <a:solidFill>
            <a:srgbClr val="C4607B"/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00400" y="2423160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BE3"/>
                </a:solidFill>
              </a:rPr>
              <a:t>Knows what they should do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00400" y="2697480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B8D8"/>
                </a:solidFill>
              </a:rPr>
              <a:t>Never turns into scheduled action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17520" y="3310128"/>
            <a:ext cx="5669280" cy="804672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017520" y="3310128"/>
            <a:ext cx="50292" cy="804672"/>
          </a:xfrm>
          <a:prstGeom prst="rect">
            <a:avLst/>
          </a:prstGeom>
          <a:solidFill>
            <a:srgbClr val="C4607B"/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200400" y="3383280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BE3"/>
                </a:solidFill>
              </a:rPr>
              <a:t>Uses Notion, Calendar, to-do lists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200400" y="3657600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B8D8"/>
                </a:solidFill>
              </a:rPr>
              <a:t>Still scattered — no strategy layer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11480" y="4709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C8B8D8"/>
                </a:solidFill>
              </a:rPr>
              <a:t>PROBLEM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58832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B23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tool solves the wrong problem.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5A7A"/>
                </a:solidFill>
              </a:rPr>
              <a:t>Current tools organize. None of them decide.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371600"/>
            <a:ext cx="2468880" cy="347472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Tool type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063240" y="1371600"/>
            <a:ext cx="2514600" cy="347472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154680" y="137160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Helps with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760720" y="1371600"/>
            <a:ext cx="3063240" cy="347472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852160" y="1371600"/>
            <a:ext cx="2971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Missing piece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737360"/>
            <a:ext cx="2468880" cy="621792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737360"/>
            <a:ext cx="235915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1040"/>
                </a:solidFill>
              </a:rPr>
              <a:t>Task managers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063240" y="1737360"/>
            <a:ext cx="2514600" cy="621792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154680" y="1737360"/>
            <a:ext cx="24048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1040"/>
                </a:solidFill>
              </a:rPr>
              <a:t>Tracking tasks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60720" y="1737360"/>
            <a:ext cx="3063240" cy="621792"/>
          </a:xfrm>
          <a:prstGeom prst="rect">
            <a:avLst/>
          </a:prstGeom>
          <a:solidFill>
            <a:srgbClr val="F5E8EE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852160" y="1737360"/>
            <a:ext cx="295351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2354"/>
                </a:solidFill>
              </a:rPr>
              <a:t>Which tasks deserve to exist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2395728"/>
            <a:ext cx="2468880" cy="621792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2395728"/>
            <a:ext cx="235915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1040"/>
                </a:solidFill>
              </a:rPr>
              <a:t>Calendars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063240" y="2395728"/>
            <a:ext cx="2514600" cy="621792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154680" y="2395728"/>
            <a:ext cx="24048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1040"/>
                </a:solidFill>
              </a:rPr>
              <a:t>Time blocks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60720" y="2395728"/>
            <a:ext cx="3063240" cy="621792"/>
          </a:xfrm>
          <a:prstGeom prst="rect">
            <a:avLst/>
          </a:prstGeom>
          <a:solidFill>
            <a:srgbClr val="F5E8EE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852160" y="2395728"/>
            <a:ext cx="295351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2354"/>
                </a:solidFill>
              </a:rPr>
              <a:t>Strategic tradeoffs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054096"/>
            <a:ext cx="2468880" cy="621792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" y="3054096"/>
            <a:ext cx="235915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1040"/>
                </a:solidFill>
              </a:rPr>
              <a:t>Notion-style planners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063240" y="3054096"/>
            <a:ext cx="2514600" cy="621792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154680" y="3054096"/>
            <a:ext cx="24048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1040"/>
                </a:solidFill>
              </a:rPr>
              <a:t>Organizing notes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60720" y="3054096"/>
            <a:ext cx="3063240" cy="621792"/>
          </a:xfrm>
          <a:prstGeom prst="rect">
            <a:avLst/>
          </a:prstGeom>
          <a:solidFill>
            <a:srgbClr val="F5E8EE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852160" y="3054096"/>
            <a:ext cx="295351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2354"/>
                </a:solidFill>
              </a:rPr>
              <a:t>Opinionated cuts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11480" y="3712464"/>
            <a:ext cx="2468880" cy="621792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2920" y="3712464"/>
            <a:ext cx="235915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1040"/>
                </a:solidFill>
              </a:rPr>
              <a:t>AI chatbots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063240" y="3712464"/>
            <a:ext cx="2514600" cy="621792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154680" y="3712464"/>
            <a:ext cx="24048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1040"/>
                </a:solidFill>
              </a:rPr>
              <a:t>Suggestions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760720" y="3712464"/>
            <a:ext cx="3063240" cy="621792"/>
          </a:xfrm>
          <a:prstGeom prst="rect">
            <a:avLst/>
          </a:prstGeom>
          <a:solidFill>
            <a:srgbClr val="F5E8EE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852160" y="3712464"/>
            <a:ext cx="295351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2354"/>
                </a:solidFill>
              </a:rPr>
              <a:t>Living plan + follow-through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11480" y="4416552"/>
            <a:ext cx="8321040" cy="347472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40" y="4416552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VISR starts one step earlier: what matters, what is blocking it, and how does that become this week?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11480" y="475465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6B5A7A"/>
                </a:solidFill>
              </a:rPr>
              <a:t>PROBLEM-SOLUTION FIT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B23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VISR?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5A7A"/>
                </a:solidFill>
              </a:rPr>
              <a:t>Not a task manager. Not a chatbot. A strategy co-pilot with an execution layer.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4023360" cy="3337560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65760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</a:rPr>
              <a:t>STRATEGY WEB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94360" y="1847088"/>
            <a:ext cx="201168" cy="201168"/>
          </a:xfrm>
          <a:prstGeom prst="ellipse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181965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14400" y="1801368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F45"/>
                </a:solidFill>
              </a:rPr>
              <a:t>Define the destination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14400" y="2002536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A7A"/>
                </a:solidFill>
              </a:rPr>
              <a:t>Your goal, current stage, and what success looks like.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" y="2395728"/>
            <a:ext cx="201168" cy="201168"/>
          </a:xfrm>
          <a:prstGeom prst="ellipse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2368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350008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F45"/>
                </a:solidFill>
              </a:rPr>
              <a:t>Map the strategy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14400" y="2551176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A7A"/>
                </a:solidFill>
              </a:rPr>
              <a:t>Strategy Web — goal at center, pillars orbiting it.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" y="2944368"/>
            <a:ext cx="201168" cy="201168"/>
          </a:xfrm>
          <a:prstGeom prst="ellipse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291693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2898648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F45"/>
                </a:solidFill>
              </a:rPr>
              <a:t>Name the bottleneck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14400" y="3099816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A7A"/>
                </a:solidFill>
              </a:rPr>
              <a:t>The one thing blocking everything else.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3493008"/>
            <a:ext cx="201168" cy="201168"/>
          </a:xfrm>
          <a:prstGeom prst="ellipse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346557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14400" y="3447288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F45"/>
                </a:solidFill>
              </a:rPr>
              <a:t>Cut distractions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4400" y="3648456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A7A"/>
                </a:solidFill>
              </a:rPr>
              <a:t>Cut / Defer / Keep / Double Down — with reasons.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4360" y="4041648"/>
            <a:ext cx="201168" cy="201168"/>
          </a:xfrm>
          <a:prstGeom prst="ellipse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4360" y="401421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5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14400" y="3995928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F45"/>
                </a:solidFill>
              </a:rPr>
              <a:t>Evaluate opportunities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14400" y="4197096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A7A"/>
                </a:solidFill>
              </a:rPr>
              <a:t>Any new offer scored against your live plan.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09160" y="1325880"/>
            <a:ext cx="4023360" cy="3337560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709160" y="1325880"/>
            <a:ext cx="4023360" cy="365760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00600" y="13258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</a:rPr>
              <a:t>FLOWGRAM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1847088"/>
            <a:ext cx="201168" cy="201168"/>
          </a:xfrm>
          <a:prstGeom prst="ellipse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92040" y="181965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212080" y="1801368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F45"/>
                </a:solidFill>
              </a:rPr>
              <a:t>Turn priorities into daily action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212080" y="2002536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A7A"/>
                </a:solidFill>
              </a:rPr>
              <a:t>Flowgram — today's schedule, notes, completion.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92040" y="2395728"/>
            <a:ext cx="201168" cy="201168"/>
          </a:xfrm>
          <a:prstGeom prst="ellipse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92040" y="2368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212080" y="2350008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F45"/>
                </a:solidFill>
              </a:rPr>
              <a:t>See the full week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212080" y="2551176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A7A"/>
                </a:solidFill>
              </a:rPr>
              <a:t>Week View — calendar-style scan of what's ahead.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92040" y="2944368"/>
            <a:ext cx="201168" cy="201168"/>
          </a:xfrm>
          <a:prstGeom prst="ellipse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892040" y="291693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212080" y="2898648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F45"/>
                </a:solidFill>
              </a:rPr>
              <a:t>Capture and recover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212080" y="3099816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A7A"/>
                </a:solidFill>
              </a:rPr>
              <a:t>Notes Hub — unresolved items and follow-ups.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92040" y="3493008"/>
            <a:ext cx="201168" cy="201168"/>
          </a:xfrm>
          <a:prstGeom prst="ellipse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892040" y="346557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212080" y="3447288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F45"/>
                </a:solidFill>
              </a:rPr>
              <a:t>Find breathing room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212080" y="3648456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A7A"/>
                </a:solidFill>
              </a:rPr>
              <a:t>Free-time finder — locate open slots and fill them.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92040" y="4041648"/>
            <a:ext cx="201168" cy="201168"/>
          </a:xfrm>
          <a:prstGeom prst="ellipse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92040" y="401421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5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212080" y="3995928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F45"/>
                </a:solidFill>
              </a:rPr>
              <a:t>Handle the unexpected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212080" y="4197096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A7A"/>
                </a:solidFill>
              </a:rPr>
              <a:t>End-of-day reschedule — recover unfinished work.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11480" y="4709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6B5A7A"/>
                </a:solidFill>
              </a:rPr>
              <a:t>SOLUTION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0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40378" cy="40378"/>
          </a:xfrm>
          <a:prstGeom prst="ellipse">
            <a:avLst/>
          </a:prstGeom>
          <a:solidFill>
            <a:srgbClr val="C4607B">
              <a:alpha val="1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0" y="731520"/>
            <a:ext cx="62736" cy="62736"/>
          </a:xfrm>
          <a:prstGeom prst="ellipse">
            <a:avLst/>
          </a:prstGeom>
          <a:solidFill>
            <a:srgbClr val="C4607B">
              <a:alpha val="21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4480560"/>
            <a:ext cx="51903" cy="51903"/>
          </a:xfrm>
          <a:prstGeom prst="ellipse">
            <a:avLst/>
          </a:prstGeom>
          <a:solidFill>
            <a:srgbClr val="C4607B">
              <a:alpha val="21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0" y="4663440"/>
            <a:ext cx="26935" cy="26935"/>
          </a:xfrm>
          <a:prstGeom prst="ellipse">
            <a:avLst/>
          </a:prstGeom>
          <a:solidFill>
            <a:srgbClr val="C4607B">
              <a:alpha val="31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412480" y="365760"/>
            <a:ext cx="43801" cy="43801"/>
          </a:xfrm>
          <a:prstGeom prst="ellipse">
            <a:avLst/>
          </a:prstGeom>
          <a:solidFill>
            <a:srgbClr val="C4607B">
              <a:alpha val="33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0" y="1005840"/>
            <a:ext cx="53761" cy="53761"/>
          </a:xfrm>
          <a:prstGeom prst="ellipse">
            <a:avLst/>
          </a:prstGeom>
          <a:solidFill>
            <a:srgbClr val="C4607B">
              <a:alpha val="32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0" y="4389120"/>
            <a:ext cx="39905" cy="39905"/>
          </a:xfrm>
          <a:prstGeom prst="ellipse">
            <a:avLst/>
          </a:prstGeom>
          <a:solidFill>
            <a:srgbClr val="C4607B">
              <a:alpha val="35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132320" y="4572000"/>
            <a:ext cx="40587" cy="40587"/>
          </a:xfrm>
          <a:prstGeom prst="ellipse">
            <a:avLst/>
          </a:prstGeom>
          <a:solidFill>
            <a:srgbClr val="C4607B">
              <a:alpha val="3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274320"/>
            <a:ext cx="44402" cy="44402"/>
          </a:xfrm>
          <a:prstGeom prst="ellipse">
            <a:avLst/>
          </a:prstGeom>
          <a:solidFill>
            <a:srgbClr val="C4607B">
              <a:alpha val="28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06240" y="4846320"/>
            <a:ext cx="37322" cy="37322"/>
          </a:xfrm>
          <a:prstGeom prst="ellipse">
            <a:avLst/>
          </a:prstGeom>
          <a:solidFill>
            <a:srgbClr val="C4607B">
              <a:alpha val="3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37160" y="2560320"/>
            <a:ext cx="36213" cy="36213"/>
          </a:xfrm>
          <a:prstGeom prst="ellipse">
            <a:avLst/>
          </a:prstGeom>
          <a:solidFill>
            <a:srgbClr val="C4607B">
              <a:alpha val="1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869680" y="2194560"/>
            <a:ext cx="50521" cy="50521"/>
          </a:xfrm>
          <a:prstGeom prst="ellipse">
            <a:avLst/>
          </a:prstGeom>
          <a:solidFill>
            <a:srgbClr val="C4607B">
              <a:alpha val="23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834640" y="4297680"/>
            <a:ext cx="63230" cy="63230"/>
          </a:xfrm>
          <a:prstGeom prst="ellipse">
            <a:avLst/>
          </a:prstGeom>
          <a:solidFill>
            <a:srgbClr val="C4607B">
              <a:alpha val="4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00800" y="182880"/>
            <a:ext cx="40459" cy="40459"/>
          </a:xfrm>
          <a:prstGeom prst="ellipse">
            <a:avLst/>
          </a:prstGeom>
          <a:solidFill>
            <a:srgbClr val="C4607B">
              <a:alpha val="22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05840" y="3200400"/>
            <a:ext cx="50769" cy="50769"/>
          </a:xfrm>
          <a:prstGeom prst="ellipse">
            <a:avLst/>
          </a:prstGeom>
          <a:solidFill>
            <a:srgbClr val="C4607B">
              <a:alpha val="18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046720" y="2926080"/>
            <a:ext cx="55437" cy="55437"/>
          </a:xfrm>
          <a:prstGeom prst="ellipse">
            <a:avLst/>
          </a:prstGeom>
          <a:solidFill>
            <a:srgbClr val="C4607B">
              <a:alpha val="16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760720" y="4754880"/>
            <a:ext cx="35673" cy="35673"/>
          </a:xfrm>
          <a:prstGeom prst="ellipse">
            <a:avLst/>
          </a:prstGeom>
          <a:solidFill>
            <a:srgbClr val="C4607B">
              <a:alpha val="32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651760" y="548640"/>
            <a:ext cx="24986" cy="24986"/>
          </a:xfrm>
          <a:prstGeom prst="ellipse">
            <a:avLst/>
          </a:prstGeom>
          <a:solidFill>
            <a:srgbClr val="C4607B">
              <a:alpha val="3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09360" y="4480560"/>
            <a:ext cx="38711" cy="38711"/>
          </a:xfrm>
          <a:prstGeom prst="ellipse">
            <a:avLst/>
          </a:prstGeom>
          <a:solidFill>
            <a:srgbClr val="C4607B">
              <a:alpha val="1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0" y="91440"/>
            <a:ext cx="48121" cy="48121"/>
          </a:xfrm>
          <a:prstGeom prst="ellipse">
            <a:avLst/>
          </a:prstGeom>
          <a:solidFill>
            <a:srgbClr val="C4607B">
              <a:alpha val="35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8640" y="1371600"/>
            <a:ext cx="53515" cy="53515"/>
          </a:xfrm>
          <a:prstGeom prst="ellipse">
            <a:avLst/>
          </a:prstGeom>
          <a:solidFill>
            <a:srgbClr val="C4607B">
              <a:alpha val="23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321040" y="1645920"/>
            <a:ext cx="59306" cy="59306"/>
          </a:xfrm>
          <a:prstGeom prst="ellipse">
            <a:avLst/>
          </a:prstGeom>
          <a:solidFill>
            <a:srgbClr val="C4607B">
              <a:alpha val="2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743200" y="1554480"/>
            <a:ext cx="1828800" cy="132588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72000" y="1554480"/>
            <a:ext cx="1737360" cy="132588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920240" y="2880360"/>
            <a:ext cx="2651760" cy="32004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572000" y="2834640"/>
            <a:ext cx="2651760" cy="4572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0" y="2880360"/>
            <a:ext cx="1371600" cy="160020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0" y="2880360"/>
            <a:ext cx="1463040" cy="150876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011680" y="1005840"/>
            <a:ext cx="731520" cy="54864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743200" y="914400"/>
            <a:ext cx="640080" cy="64008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309360" y="1005840"/>
            <a:ext cx="822960" cy="54864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309360" y="731520"/>
            <a:ext cx="182880" cy="82296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05840" y="2560320"/>
            <a:ext cx="914400" cy="64008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188720" y="3200400"/>
            <a:ext cx="731520" cy="64008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223760" y="2194560"/>
            <a:ext cx="822960" cy="64008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223760" y="2834640"/>
            <a:ext cx="731520" cy="64008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468880" y="4480560"/>
            <a:ext cx="731520" cy="45720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035040" y="4389120"/>
            <a:ext cx="182880" cy="64008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035040" y="4389120"/>
            <a:ext cx="822960" cy="36576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749040" y="2057400"/>
            <a:ext cx="1645920" cy="1645920"/>
          </a:xfrm>
          <a:prstGeom prst="ellipse">
            <a:avLst/>
          </a:prstGeom>
          <a:solidFill>
            <a:srgbClr val="C4607B">
              <a:alpha val="2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189781" y="2498141"/>
            <a:ext cx="764438" cy="764438"/>
          </a:xfrm>
          <a:prstGeom prst="ellipse">
            <a:avLst/>
          </a:prstGeom>
          <a:solidFill>
            <a:srgbClr val="C4607B"/>
          </a:solidFill>
          <a:ln w="12700">
            <a:solidFill>
              <a:srgbClr val="C4607B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3749040" y="3308299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0EBE3"/>
                </a:solidFill>
              </a:rPr>
              <a:t>GOAL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60320" y="1371600"/>
            <a:ext cx="365760" cy="365760"/>
          </a:xfrm>
          <a:prstGeom prst="ellipse">
            <a:avLst/>
          </a:prstGeom>
          <a:solidFill>
            <a:srgbClr val="C4607B">
              <a:alpha val="8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920240" y="1783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0EBE3"/>
                </a:solidFill>
              </a:rPr>
              <a:t>Skill Signal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126480" y="1371600"/>
            <a:ext cx="365760" cy="365760"/>
          </a:xfrm>
          <a:prstGeom prst="ellipse">
            <a:avLst/>
          </a:prstGeom>
          <a:solidFill>
            <a:srgbClr val="5AADA3">
              <a:alpha val="80000"/>
            </a:srgbClr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486400" y="1783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0EBE3"/>
                </a:solidFill>
              </a:rPr>
              <a:t>Interview Prep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737360" y="3017520"/>
            <a:ext cx="365760" cy="365760"/>
          </a:xfrm>
          <a:prstGeom prst="ellipse">
            <a:avLst/>
          </a:prstGeom>
          <a:solidFill>
            <a:srgbClr val="5AADA3">
              <a:alpha val="80000"/>
            </a:srgbClr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1097280" y="34290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0EBE3"/>
                </a:solidFill>
              </a:rPr>
              <a:t>Recruiting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40880" y="2651760"/>
            <a:ext cx="365760" cy="365760"/>
          </a:xfrm>
          <a:prstGeom prst="ellipse">
            <a:avLst/>
          </a:prstGeom>
          <a:solidFill>
            <a:srgbClr val="5AADA3">
              <a:alpha val="80000"/>
            </a:srgbClr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400800" y="3063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0EBE3"/>
                </a:solidFill>
              </a:rPr>
              <a:t>Network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017520" y="4297680"/>
            <a:ext cx="365760" cy="365760"/>
          </a:xfrm>
          <a:prstGeom prst="ellipse">
            <a:avLst/>
          </a:prstGeom>
          <a:solidFill>
            <a:srgbClr val="5AADA3">
              <a:alpha val="80000"/>
            </a:srgbClr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2377440" y="47091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0EBE3"/>
                </a:solidFill>
              </a:rPr>
              <a:t>Academics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52160" y="4206240"/>
            <a:ext cx="365760" cy="365760"/>
          </a:xfrm>
          <a:prstGeom prst="ellipse">
            <a:avLst/>
          </a:prstGeom>
          <a:solidFill>
            <a:srgbClr val="E8A0B0">
              <a:alpha val="80000"/>
            </a:srgbClr>
          </a:solidFill>
          <a:ln w="12700">
            <a:solidFill>
              <a:srgbClr val="E8A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212080" y="4617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0EBE3"/>
                </a:solidFill>
              </a:rPr>
              <a:t>Focus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920240" y="914400"/>
            <a:ext cx="182880" cy="182880"/>
          </a:xfrm>
          <a:prstGeom prst="ellipse">
            <a:avLst/>
          </a:prstGeom>
          <a:solidFill>
            <a:srgbClr val="C4607B">
              <a:alpha val="8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291840" y="822960"/>
            <a:ext cx="182880" cy="182880"/>
          </a:xfrm>
          <a:prstGeom prst="ellipse">
            <a:avLst/>
          </a:prstGeom>
          <a:solidFill>
            <a:srgbClr val="C4607B">
              <a:alpha val="8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7040880" y="914400"/>
            <a:ext cx="182880" cy="182880"/>
          </a:xfrm>
          <a:prstGeom prst="ellipse">
            <a:avLst/>
          </a:prstGeom>
          <a:solidFill>
            <a:srgbClr val="5AADA3">
              <a:alpha val="80000"/>
            </a:srgbClr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6400800" y="640080"/>
            <a:ext cx="182880" cy="182880"/>
          </a:xfrm>
          <a:prstGeom prst="ellipse">
            <a:avLst/>
          </a:prstGeom>
          <a:solidFill>
            <a:srgbClr val="5AADA3">
              <a:alpha val="80000"/>
            </a:srgbClr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914400" y="2468880"/>
            <a:ext cx="182880" cy="182880"/>
          </a:xfrm>
          <a:prstGeom prst="ellipse">
            <a:avLst/>
          </a:prstGeom>
          <a:solidFill>
            <a:srgbClr val="5AADA3">
              <a:alpha val="80000"/>
            </a:srgbClr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1097280" y="3749040"/>
            <a:ext cx="182880" cy="182880"/>
          </a:xfrm>
          <a:prstGeom prst="ellipse">
            <a:avLst/>
          </a:prstGeom>
          <a:solidFill>
            <a:srgbClr val="5AADA3">
              <a:alpha val="80000"/>
            </a:srgbClr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7955280" y="2103120"/>
            <a:ext cx="182880" cy="182880"/>
          </a:xfrm>
          <a:prstGeom prst="ellipse">
            <a:avLst/>
          </a:prstGeom>
          <a:solidFill>
            <a:srgbClr val="5AADA3">
              <a:alpha val="80000"/>
            </a:srgbClr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7863840" y="3383280"/>
            <a:ext cx="182880" cy="182880"/>
          </a:xfrm>
          <a:prstGeom prst="ellipse">
            <a:avLst/>
          </a:prstGeom>
          <a:solidFill>
            <a:srgbClr val="5AADA3">
              <a:alpha val="80000"/>
            </a:srgbClr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2377440" y="4846320"/>
            <a:ext cx="182880" cy="182880"/>
          </a:xfrm>
          <a:prstGeom prst="ellipse">
            <a:avLst/>
          </a:prstGeom>
          <a:solidFill>
            <a:srgbClr val="5AADA3">
              <a:alpha val="80000"/>
            </a:srgbClr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6126480" y="4937760"/>
            <a:ext cx="182880" cy="182880"/>
          </a:xfrm>
          <a:prstGeom prst="ellipse">
            <a:avLst/>
          </a:prstGeom>
          <a:solidFill>
            <a:srgbClr val="E8A0B0">
              <a:alpha val="80000"/>
            </a:srgbClr>
          </a:solidFill>
          <a:ln w="12700">
            <a:solidFill>
              <a:srgbClr val="E8A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6766560" y="4663440"/>
            <a:ext cx="182880" cy="182880"/>
          </a:xfrm>
          <a:prstGeom prst="ellipse">
            <a:avLst/>
          </a:prstGeom>
          <a:solidFill>
            <a:srgbClr val="E8A0B0">
              <a:alpha val="80000"/>
            </a:srgbClr>
          </a:solidFill>
          <a:ln w="12700">
            <a:solidFill>
              <a:srgbClr val="E8A0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2423160" y="1234440"/>
            <a:ext cx="640080" cy="640080"/>
          </a:xfrm>
          <a:prstGeom prst="ellipse">
            <a:avLst/>
          </a:prstGeom>
          <a:solidFill>
            <a:srgbClr val="000000">
              <a:alpha val="0"/>
            </a:srgbClr>
          </a:solidFill>
          <a:ln w="254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274320" y="2286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EB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Constellation Map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274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4607B"/>
                </a:solidFill>
              </a:rPr>
              <a:t>Tap any node to reveal what it connects to.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194560" y="4863905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8B8D8"/>
                </a:solidFill>
              </a:rPr>
              <a:t>○ Action node   ● Pillar node   ● Goal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274320" y="411480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5C0820"/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274320" y="4114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4607B"/>
                </a:solidFill>
              </a:rPr>
              <a:t>⚠ Bottleneck  ·  Skill Signal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411480" y="4709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C8B8D8"/>
                </a:solidFill>
              </a:rPr>
              <a:t>STRATEGY WEB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B23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map means.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5A7A"/>
                </a:solidFill>
              </a:rPr>
              <a:t>The dashboard explains the strategy — so students don't have to interpret it alone.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298448"/>
            <a:ext cx="1828800" cy="1828800"/>
          </a:xfrm>
          <a:prstGeom prst="ellipse">
            <a:avLst/>
          </a:prstGeom>
          <a:solidFill>
            <a:srgbClr val="EDE8DC"/>
          </a:solidFill>
          <a:ln w="31750">
            <a:solidFill>
              <a:srgbClr val="6B235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1600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6B23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64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11480" y="235915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5A7A"/>
                </a:solidFill>
              </a:rPr>
              <a:t>alignment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5A7A"/>
                </a:solidFill>
              </a:rPr>
              <a:t>score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1298448"/>
            <a:ext cx="3154680" cy="1051560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423160" y="1298448"/>
            <a:ext cx="50292" cy="1051560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0" y="1389888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A1F45"/>
                </a:solidFill>
              </a:rPr>
              <a:t>Destination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1645920"/>
            <a:ext cx="2953512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5A7A"/>
                </a:solidFill>
              </a:rPr>
              <a:t>Software Engineering Internship — Stage: Skill Signal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60720" y="1298448"/>
            <a:ext cx="3154680" cy="1051560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760720" y="1298448"/>
            <a:ext cx="50292" cy="1051560"/>
          </a:xfrm>
          <a:prstGeom prst="rect">
            <a:avLst/>
          </a:prstGeom>
          <a:solidFill>
            <a:srgbClr val="9E3D5A"/>
          </a:solidFill>
          <a:ln w="12700">
            <a:solidFill>
              <a:srgbClr val="9E3D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897880" y="1389888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A1F45"/>
                </a:solidFill>
              </a:rPr>
              <a:t>Main Bottleneck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97880" y="1645920"/>
            <a:ext cx="2953512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5A7A"/>
                </a:solidFill>
              </a:rPr>
              <a:t>No shipped project. GitHub is empty. Everything else is noise.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23160" y="2468880"/>
            <a:ext cx="3154680" cy="1051560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423160" y="2468880"/>
            <a:ext cx="50292" cy="1051560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560320" y="2560320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A1F45"/>
                </a:solidFill>
              </a:rPr>
              <a:t>Next 7 Days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560320" y="2816352"/>
            <a:ext cx="2953512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5A7A"/>
                </a:solidFill>
              </a:rPr>
              <a:t>5 specific actions tied to the bottleneck — not a generic list.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760720" y="2468880"/>
            <a:ext cx="3154680" cy="1051560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760720" y="2468880"/>
            <a:ext cx="50292" cy="1051560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897880" y="2560320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A1F45"/>
                </a:solidFill>
              </a:rPr>
              <a:t>Cut List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97880" y="2816352"/>
            <a:ext cx="2953512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5A7A"/>
                </a:solidFill>
              </a:rPr>
              <a:t>Cut / Defer / Keep / Double Down — every item has a reason.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423160" y="3639312"/>
            <a:ext cx="3154680" cy="1051560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423160" y="3639312"/>
            <a:ext cx="50292" cy="1051560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560320" y="3730752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A1F45"/>
                </a:solidFill>
              </a:rPr>
              <a:t>Risks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560320" y="3986784"/>
            <a:ext cx="2953512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5A7A"/>
                </a:solidFill>
              </a:rPr>
              <a:t>Part-time hours + second club are flagged as attention needed.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760720" y="3639312"/>
            <a:ext cx="3154680" cy="1051560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760720" y="3639312"/>
            <a:ext cx="50292" cy="1051560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897880" y="3730752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A1F45"/>
                </a:solidFill>
              </a:rPr>
              <a:t>Today Focus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97880" y="3986784"/>
            <a:ext cx="2953512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5A7A"/>
                </a:solidFill>
              </a:rPr>
              <a:t>Top 3 strategy actions surfaced as an overlay each morning.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11480" y="4709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6B5A7A"/>
                </a:solidFill>
              </a:rPr>
              <a:t>ANALYSIS LAYER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0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31886" cy="31886"/>
          </a:xfrm>
          <a:prstGeom prst="ellipse">
            <a:avLst/>
          </a:prstGeom>
          <a:solidFill>
            <a:srgbClr val="C4607B">
              <a:alpha val="2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0" y="731520"/>
            <a:ext cx="33242" cy="33242"/>
          </a:xfrm>
          <a:prstGeom prst="ellipse">
            <a:avLst/>
          </a:prstGeom>
          <a:solidFill>
            <a:srgbClr val="C4607B">
              <a:alpha val="33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4480560"/>
            <a:ext cx="35905" cy="35905"/>
          </a:xfrm>
          <a:prstGeom prst="ellipse">
            <a:avLst/>
          </a:prstGeom>
          <a:solidFill>
            <a:srgbClr val="C4607B">
              <a:alpha val="28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0" y="4663440"/>
            <a:ext cx="50167" cy="50167"/>
          </a:xfrm>
          <a:prstGeom prst="ellipse">
            <a:avLst/>
          </a:prstGeom>
          <a:solidFill>
            <a:srgbClr val="C4607B">
              <a:alpha val="2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412480" y="365760"/>
            <a:ext cx="38605" cy="38605"/>
          </a:xfrm>
          <a:prstGeom prst="ellipse">
            <a:avLst/>
          </a:prstGeom>
          <a:solidFill>
            <a:srgbClr val="C4607B">
              <a:alpha val="26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0" y="1005840"/>
            <a:ext cx="31641" cy="31641"/>
          </a:xfrm>
          <a:prstGeom prst="ellipse">
            <a:avLst/>
          </a:prstGeom>
          <a:solidFill>
            <a:srgbClr val="C4607B">
              <a:alpha val="16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0" y="4389120"/>
            <a:ext cx="35574" cy="35574"/>
          </a:xfrm>
          <a:prstGeom prst="ellipse">
            <a:avLst/>
          </a:prstGeom>
          <a:solidFill>
            <a:srgbClr val="C4607B">
              <a:alpha val="36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132320" y="4572000"/>
            <a:ext cx="28485" cy="28485"/>
          </a:xfrm>
          <a:prstGeom prst="ellipse">
            <a:avLst/>
          </a:prstGeom>
          <a:solidFill>
            <a:srgbClr val="C4607B">
              <a:alpha val="32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274320"/>
            <a:ext cx="54066" cy="54066"/>
          </a:xfrm>
          <a:prstGeom prst="ellipse">
            <a:avLst/>
          </a:prstGeom>
          <a:solidFill>
            <a:srgbClr val="C4607B">
              <a:alpha val="38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06240" y="4846320"/>
            <a:ext cx="33128" cy="33128"/>
          </a:xfrm>
          <a:prstGeom prst="ellipse">
            <a:avLst/>
          </a:prstGeom>
          <a:solidFill>
            <a:srgbClr val="C4607B">
              <a:alpha val="22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37160" y="2560320"/>
            <a:ext cx="49713" cy="49713"/>
          </a:xfrm>
          <a:prstGeom prst="ellipse">
            <a:avLst/>
          </a:prstGeom>
          <a:solidFill>
            <a:srgbClr val="C4607B">
              <a:alpha val="2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869680" y="2194560"/>
            <a:ext cx="38365" cy="38365"/>
          </a:xfrm>
          <a:prstGeom prst="ellipse">
            <a:avLst/>
          </a:prstGeom>
          <a:solidFill>
            <a:srgbClr val="C4607B">
              <a:alpha val="16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 err="1">
                <a:solidFill>
                  <a:srgbClr val="F0EB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Flowgram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8B8D8"/>
                </a:solidFill>
              </a:rPr>
              <a:t>Strategy decides what matters. </a:t>
            </a:r>
            <a:r>
              <a:rPr lang="en-US" sz="1300" i="1" dirty="0" err="1">
                <a:solidFill>
                  <a:srgbClr val="C8B8D8"/>
                </a:solidFill>
              </a:rPr>
              <a:t>Flowgram</a:t>
            </a:r>
            <a:r>
              <a:rPr lang="en-US" sz="1300" i="1" dirty="0">
                <a:solidFill>
                  <a:srgbClr val="C8B8D8"/>
                </a:solidFill>
              </a:rPr>
              <a:t> makes it executable.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1480" y="1298448"/>
            <a:ext cx="3931920" cy="2926080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137160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AADA3"/>
                </a:solidFill>
              </a:rPr>
              <a:t>Strategy says →  Straightnoodle does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" y="1737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8B8D8"/>
                </a:solidFill>
              </a:rPr>
              <a:t>Improve skill signal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993392"/>
            <a:ext cx="3566160" cy="347472"/>
          </a:xfrm>
          <a:prstGeom prst="rect">
            <a:avLst/>
          </a:prstGeom>
          <a:solidFill>
            <a:srgbClr val="2A1045"/>
          </a:solidFill>
          <a:ln w="635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85800" y="199339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EC9C0"/>
                </a:solidFill>
              </a:rPr>
              <a:t>→  Ship one project, push to GitHub today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94360" y="24871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8B8D8"/>
                </a:solidFill>
              </a:rPr>
              <a:t>Prepare for interviews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" y="2743200"/>
            <a:ext cx="3566160" cy="347472"/>
          </a:xfrm>
          <a:prstGeom prst="rect">
            <a:avLst/>
          </a:prstGeom>
          <a:solidFill>
            <a:srgbClr val="2A1045"/>
          </a:solidFill>
          <a:ln w="635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85800" y="274320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EC9C0"/>
                </a:solidFill>
              </a:rPr>
              <a:t>→  6 LeetCode problems scheduled this week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94360" y="323697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8B8D8"/>
                </a:solidFill>
              </a:rPr>
              <a:t>Network more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4360" y="3493008"/>
            <a:ext cx="3566160" cy="347472"/>
          </a:xfrm>
          <a:prstGeom prst="rect">
            <a:avLst/>
          </a:prstGeom>
          <a:solidFill>
            <a:srgbClr val="2A1045"/>
          </a:solidFill>
          <a:ln w="635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85800" y="349300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EC9C0"/>
                </a:solidFill>
              </a:rPr>
              <a:t>→  Message 2 upper-year CS students — Tuesday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0" y="1298448"/>
            <a:ext cx="4160520" cy="530352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0" y="1298448"/>
            <a:ext cx="50292" cy="530352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09160" y="1289805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BE3"/>
                </a:solidFill>
              </a:rPr>
              <a:t>Flowgram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09160" y="1618626"/>
            <a:ext cx="3959352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B8D8"/>
                </a:solidFill>
              </a:rPr>
              <a:t>Today's schedule with notes, completion, items, weather, and routines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0" y="1874520"/>
            <a:ext cx="4160520" cy="530352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572000" y="1874520"/>
            <a:ext cx="50292" cy="530352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09160" y="196596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BE3"/>
                </a:solidFill>
              </a:rPr>
              <a:t>Week View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709160" y="2221992"/>
            <a:ext cx="3959352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B8D8"/>
                </a:solidFill>
              </a:rPr>
              <a:t>Calendar-style scan of the full week ahead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0" y="2450592"/>
            <a:ext cx="4160520" cy="530352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72000" y="2450592"/>
            <a:ext cx="50292" cy="530352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09160" y="2542032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BE3"/>
                </a:solidFill>
              </a:rPr>
              <a:t>Notes Hub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09160" y="2798064"/>
            <a:ext cx="3959352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B8D8"/>
                </a:solidFill>
              </a:rPr>
              <a:t>Unresolved items and follow-ups in one place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0" y="3026664"/>
            <a:ext cx="4160520" cy="530352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572000" y="3026664"/>
            <a:ext cx="50292" cy="530352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09160" y="311810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BE3"/>
                </a:solidFill>
              </a:rPr>
              <a:t>Free-time Finder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709160" y="3374136"/>
            <a:ext cx="3959352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B8D8"/>
                </a:solidFill>
              </a:rPr>
              <a:t>Locate open slots and schedule into them instantly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0" y="3602736"/>
            <a:ext cx="4160520" cy="530352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572000" y="3602736"/>
            <a:ext cx="50292" cy="530352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709160" y="3694176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BE3"/>
                </a:solidFill>
              </a:rPr>
              <a:t>End-of-day Reschedule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709160" y="3950208"/>
            <a:ext cx="3959352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B8D8"/>
                </a:solidFill>
              </a:rPr>
              <a:t>Recover unfinished work before the day closes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572000" y="4178808"/>
            <a:ext cx="4160520" cy="530352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572000" y="4178808"/>
            <a:ext cx="50292" cy="530352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709160" y="4270248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BE3"/>
                </a:solidFill>
              </a:rPr>
              <a:t>Before You Leave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4709160" y="4526280"/>
            <a:ext cx="3959352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B8D8"/>
                </a:solidFill>
              </a:rPr>
              <a:t>Packing checklist tied to events, weather, and defaults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11480" y="4709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C8B8D8"/>
                </a:solidFill>
              </a:rPr>
              <a:t>FLOWGRAM EXECUTION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0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38340" cy="38340"/>
          </a:xfrm>
          <a:prstGeom prst="ellipse">
            <a:avLst/>
          </a:prstGeom>
          <a:solidFill>
            <a:srgbClr val="C4607B">
              <a:alpha val="2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0" y="731520"/>
            <a:ext cx="23349" cy="23349"/>
          </a:xfrm>
          <a:prstGeom prst="ellipse">
            <a:avLst/>
          </a:prstGeom>
          <a:solidFill>
            <a:srgbClr val="C4607B">
              <a:alpha val="25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4480560"/>
            <a:ext cx="43495" cy="43495"/>
          </a:xfrm>
          <a:prstGeom prst="ellipse">
            <a:avLst/>
          </a:prstGeom>
          <a:solidFill>
            <a:srgbClr val="C4607B">
              <a:alpha val="33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0" y="4663440"/>
            <a:ext cx="44295" cy="44295"/>
          </a:xfrm>
          <a:prstGeom prst="ellipse">
            <a:avLst/>
          </a:prstGeom>
          <a:solidFill>
            <a:srgbClr val="C4607B">
              <a:alpha val="2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412480" y="365760"/>
            <a:ext cx="59868" cy="59868"/>
          </a:xfrm>
          <a:prstGeom prst="ellipse">
            <a:avLst/>
          </a:prstGeom>
          <a:solidFill>
            <a:srgbClr val="C4607B">
              <a:alpha val="36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0" y="1005840"/>
            <a:ext cx="35355" cy="35355"/>
          </a:xfrm>
          <a:prstGeom prst="ellipse">
            <a:avLst/>
          </a:prstGeom>
          <a:solidFill>
            <a:srgbClr val="C4607B">
              <a:alpha val="21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0" y="4389120"/>
            <a:ext cx="45837" cy="45837"/>
          </a:xfrm>
          <a:prstGeom prst="ellipse">
            <a:avLst/>
          </a:prstGeom>
          <a:solidFill>
            <a:srgbClr val="C4607B">
              <a:alpha val="25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132320" y="4572000"/>
            <a:ext cx="24591" cy="24591"/>
          </a:xfrm>
          <a:prstGeom prst="ellipse">
            <a:avLst/>
          </a:prstGeom>
          <a:solidFill>
            <a:srgbClr val="C4607B">
              <a:alpha val="1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274320"/>
            <a:ext cx="63203" cy="63203"/>
          </a:xfrm>
          <a:prstGeom prst="ellipse">
            <a:avLst/>
          </a:prstGeom>
          <a:solidFill>
            <a:srgbClr val="C4607B">
              <a:alpha val="26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06240" y="4846320"/>
            <a:ext cx="57556" cy="57556"/>
          </a:xfrm>
          <a:prstGeom prst="ellipse">
            <a:avLst/>
          </a:prstGeom>
          <a:solidFill>
            <a:srgbClr val="C4607B">
              <a:alpha val="3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37160" y="2560320"/>
            <a:ext cx="56177" cy="56177"/>
          </a:xfrm>
          <a:prstGeom prst="ellipse">
            <a:avLst/>
          </a:prstGeom>
          <a:solidFill>
            <a:srgbClr val="C4607B">
              <a:alpha val="1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869680" y="2194560"/>
            <a:ext cx="48329" cy="48329"/>
          </a:xfrm>
          <a:prstGeom prst="ellipse">
            <a:avLst/>
          </a:prstGeom>
          <a:solidFill>
            <a:srgbClr val="C4607B">
              <a:alpha val="21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0EB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Opportunity Checker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8B8D8"/>
                </a:solidFill>
              </a:rPr>
              <a:t>Should you say yes? AI tells you — and names the cost.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1480" y="1298448"/>
            <a:ext cx="4114800" cy="475488"/>
          </a:xfrm>
          <a:prstGeom prst="rect">
            <a:avLst/>
          </a:prstGeom>
          <a:solidFill>
            <a:srgbClr val="3A1A50"/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1298448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B8D8"/>
                </a:solidFill>
              </a:rPr>
              <a:t>"Join the Robotics Club exec team?"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11480" y="1874520"/>
            <a:ext cx="4114800" cy="2423160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1965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C8B8D8"/>
                </a:solidFill>
              </a:rPr>
              <a:t>FIT SCORE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94360" y="214884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C460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78%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2148840" y="221284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7B"/>
                </a:solidFill>
              </a:rPr>
              <a:t>Say Yes With Conditions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285292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C8B8D8"/>
                </a:solidFill>
              </a:rPr>
              <a:t>WHAT GETS CUT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4360" y="3090672"/>
            <a:ext cx="109728" cy="109728"/>
          </a:xfrm>
          <a:prstGeom prst="ellipse">
            <a:avLst/>
          </a:prstGeom>
          <a:solidFill>
            <a:srgbClr val="C4607B"/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04672" y="30632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BE3"/>
                </a:solidFill>
              </a:rPr>
              <a:t>Research assistantship hours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410712"/>
            <a:ext cx="109728" cy="109728"/>
          </a:xfrm>
          <a:prstGeom prst="ellipse">
            <a:avLst/>
          </a:prstGeom>
          <a:solidFill>
            <a:srgbClr val="C4607B"/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04672" y="33832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BE3"/>
                </a:solidFill>
              </a:rPr>
              <a:t>Saturday study blocks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94360" y="376732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C8B8D8"/>
                </a:solidFill>
              </a:rPr>
              <a:t>CONDITION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94360" y="39776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4607B"/>
                </a:solidFill>
              </a:rPr>
              <a:t>Only if capped at 4 hrs/week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754880" y="1298448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B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opportunity runs through your strategy.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754880" y="1965960"/>
            <a:ext cx="146304" cy="146304"/>
          </a:xfrm>
          <a:prstGeom prst="ellipse">
            <a:avLst/>
          </a:prstGeom>
          <a:solidFill>
            <a:srgbClr val="C4607B"/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92624" y="18928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EBE3"/>
                </a:solidFill>
              </a:rPr>
              <a:t>AI compares the ask against your live StrategyPlan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54880" y="2532888"/>
            <a:ext cx="146304" cy="146304"/>
          </a:xfrm>
          <a:prstGeom prst="ellipse">
            <a:avLst/>
          </a:prstGeom>
          <a:solidFill>
            <a:srgbClr val="C4607B"/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992624" y="2459736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EBE3"/>
                </a:solidFill>
              </a:rPr>
              <a:t>Surfaces exact conflicts on your node map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54880" y="3099816"/>
            <a:ext cx="146304" cy="146304"/>
          </a:xfrm>
          <a:prstGeom prst="ellipse">
            <a:avLst/>
          </a:prstGeom>
          <a:solidFill>
            <a:srgbClr val="C4607B"/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992624" y="3026664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EBE3"/>
                </a:solidFill>
              </a:rPr>
              <a:t>Names what you would have to cut — not vaguely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54880" y="3666744"/>
            <a:ext cx="146304" cy="146304"/>
          </a:xfrm>
          <a:prstGeom prst="ellipse">
            <a:avLst/>
          </a:prstGeom>
          <a:solidFill>
            <a:srgbClr val="C4607B"/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992624" y="359359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EBE3"/>
                </a:solidFill>
              </a:rPr>
              <a:t>Gives a clear condition for saying yes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0" y="4233672"/>
            <a:ext cx="146304" cy="146304"/>
          </a:xfrm>
          <a:prstGeom prst="ellipse">
            <a:avLst/>
          </a:prstGeom>
          <a:solidFill>
            <a:srgbClr val="C4607B"/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992624" y="41605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EBE3"/>
                </a:solidFill>
              </a:rPr>
              <a:t>Ties back to </a:t>
            </a:r>
            <a:r>
              <a:rPr lang="en-US" sz="1100" dirty="0" err="1">
                <a:solidFill>
                  <a:srgbClr val="F0EBE3"/>
                </a:solidFill>
              </a:rPr>
              <a:t>Flowgram</a:t>
            </a:r>
            <a:r>
              <a:rPr lang="en-US" sz="1100" dirty="0">
                <a:solidFill>
                  <a:srgbClr val="F0EBE3"/>
                </a:solidFill>
              </a:rPr>
              <a:t> if hours change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11480" y="4709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C8B8D8"/>
                </a:solidFill>
              </a:rPr>
              <a:t>OPPORTUNITY VALIDATION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B23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5A7A"/>
                </a:solidFill>
              </a:rPr>
              <a:t>The full loop in under 90 seconds.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4069080" cy="804672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347472" cy="804672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325880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0392" y="1380744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50392" y="167335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Show the two-layer product: Strategy + </a:t>
            </a:r>
            <a:r>
              <a:rPr lang="en-US" sz="950" dirty="0" err="1">
                <a:solidFill>
                  <a:srgbClr val="6B5A7A"/>
                </a:solidFill>
              </a:rPr>
              <a:t>Flowgram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212848"/>
            <a:ext cx="4069080" cy="804672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212848"/>
            <a:ext cx="347472" cy="804672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2212848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50392" y="2267712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/2/onboarding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" y="256032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Assessments — brain dump + progressive map preview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3099816"/>
            <a:ext cx="4069080" cy="804672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3099816"/>
            <a:ext cx="347472" cy="804672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3099816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0392" y="3154680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/2/dashboard/demo-*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0392" y="3447288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Strategy Web — goal, pillars, bottleneck, alignment score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986784"/>
            <a:ext cx="4069080" cy="804672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1480" y="3986784"/>
            <a:ext cx="347472" cy="804672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3986784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50392" y="4041648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 Focus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50392" y="4334256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Top 3 strategy actions surfaced as a morning overlay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09160" y="1325880"/>
            <a:ext cx="4069080" cy="804672"/>
          </a:xfrm>
          <a:prstGeom prst="rect">
            <a:avLst/>
          </a:prstGeom>
          <a:solidFill>
            <a:srgbClr val="EEE8F5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09160" y="1325880"/>
            <a:ext cx="347472" cy="804672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09160" y="1325880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48072" y="1380744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AD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7 days + Cut list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48072" y="167335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Bottleneck named, tradeoffs visible, cuts specific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09160" y="2212848"/>
            <a:ext cx="4069080" cy="804672"/>
          </a:xfrm>
          <a:prstGeom prst="rect">
            <a:avLst/>
          </a:prstGeom>
          <a:solidFill>
            <a:srgbClr val="EEE8F5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09160" y="2212848"/>
            <a:ext cx="347472" cy="804672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09160" y="2212848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148072" y="2267712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AD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/1 Flowgram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148072" y="256032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6B5A7A"/>
                </a:solidFill>
              </a:rPr>
              <a:t>Flowgram</a:t>
            </a:r>
            <a:r>
              <a:rPr lang="en-US" sz="950" dirty="0">
                <a:solidFill>
                  <a:srgbClr val="6B5A7A"/>
                </a:solidFill>
              </a:rPr>
              <a:t> daily execution layer — live, not static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09160" y="3099816"/>
            <a:ext cx="4069080" cy="804672"/>
          </a:xfrm>
          <a:prstGeom prst="rect">
            <a:avLst/>
          </a:prstGeom>
          <a:solidFill>
            <a:srgbClr val="EEE8F5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709160" y="3099816"/>
            <a:ext cx="347472" cy="804672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709160" y="3099816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148072" y="3154680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AD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/1/week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48072" y="3447288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Week View — calendar scan of the full week ahead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709160" y="3986784"/>
            <a:ext cx="4069080" cy="804672"/>
          </a:xfrm>
          <a:prstGeom prst="rect">
            <a:avLst/>
          </a:prstGeom>
          <a:solidFill>
            <a:srgbClr val="EEE8F5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709160" y="3986784"/>
            <a:ext cx="347472" cy="804672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09160" y="3986784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148072" y="4041648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AD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/2/opportunity/demo-*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148072" y="4334256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Robotics club: 78%, Say Yes With Conditions, cuts named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11480" y="4791047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6B5A7A"/>
                </a:solidFill>
              </a:rPr>
              <a:t>DEMO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B23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Research-informed, not opinion-driven.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75488" y="10656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5A7A"/>
                </a:solidFill>
              </a:rPr>
              <a:t>Pathwise applies known behavioral mechanisms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298448"/>
            <a:ext cx="4160520" cy="1261872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1298448"/>
            <a:ext cx="50292" cy="1261872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39496" y="1389888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1F45"/>
                </a:solidFill>
              </a:rPr>
              <a:t>Specific goals improve performance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9496" y="1664208"/>
            <a:ext cx="39776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Locke &amp; Latham, APA 2002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Across 88 tasks, 40,000+ participants — specific goals reliably outperform vague ones.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1298448"/>
            <a:ext cx="4160520" cy="1261872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663440" y="1298448"/>
            <a:ext cx="50292" cy="1261872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91456" y="1389888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1F45"/>
                </a:solidFill>
              </a:rPr>
              <a:t>Strategy maps create clarity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91456" y="1664208"/>
            <a:ext cx="39776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Kaplan &amp; Norton, HBR 2000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One visual of linked objectives is worth more than 1,000 words or 25 KPIs.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2743200"/>
            <a:ext cx="2670048" cy="1993392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11480" y="2743200"/>
            <a:ext cx="50292" cy="1993392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9496" y="2834640"/>
            <a:ext cx="2487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1F45"/>
                </a:solidFill>
              </a:rPr>
              <a:t>Visuals reduce cognitive load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9496" y="3108960"/>
            <a:ext cx="2487168" cy="151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Sweller — Cognitive Load Theory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Externalizing a complex strategy frees working memory for execution.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18688" y="2743200"/>
            <a:ext cx="2670048" cy="1993392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18688" y="2743200"/>
            <a:ext cx="50292" cy="1993392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46704" y="2834640"/>
            <a:ext cx="2487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1F45"/>
                </a:solidFill>
              </a:rPr>
              <a:t>Too many options kill follow-through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46704" y="3108960"/>
            <a:ext cx="2487168" cy="151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Iyengar &amp; Lepper, APA 2000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6 options → 30% action. 24 options → 3%. The cut list is behavioral, not aesthetic.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35040" y="2743200"/>
            <a:ext cx="2670048" cy="1993392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035040" y="2743200"/>
            <a:ext cx="50292" cy="1993392"/>
          </a:xfrm>
          <a:prstGeom prst="rect">
            <a:avLst/>
          </a:prstGeom>
          <a:solidFill>
            <a:srgbClr val="9E3D5A"/>
          </a:solidFill>
          <a:ln w="12700">
            <a:solidFill>
              <a:srgbClr val="9E3D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163056" y="2834640"/>
            <a:ext cx="2487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1F45"/>
                </a:solidFill>
              </a:rPr>
              <a:t>Specificity turns intention into action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63056" y="3108960"/>
            <a:ext cx="2487168" cy="151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Gollwitzer, APA 1999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When/where/how plans multiply follow-through by 8×. That is Straightnoodle.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4754653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6B5A7A"/>
                </a:solidFill>
              </a:rPr>
              <a:t>RESEARCH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0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29942" cy="29942"/>
          </a:xfrm>
          <a:prstGeom prst="ellipse">
            <a:avLst/>
          </a:prstGeom>
          <a:solidFill>
            <a:srgbClr val="C4607B">
              <a:alpha val="32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0" y="731520"/>
            <a:ext cx="62243" cy="62243"/>
          </a:xfrm>
          <a:prstGeom prst="ellipse">
            <a:avLst/>
          </a:prstGeom>
          <a:solidFill>
            <a:srgbClr val="C4607B">
              <a:alpha val="24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4480560"/>
            <a:ext cx="33759" cy="33759"/>
          </a:xfrm>
          <a:prstGeom prst="ellipse">
            <a:avLst/>
          </a:prstGeom>
          <a:solidFill>
            <a:srgbClr val="C4607B">
              <a:alpha val="33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0" y="4663440"/>
            <a:ext cx="61684" cy="61684"/>
          </a:xfrm>
          <a:prstGeom prst="ellipse">
            <a:avLst/>
          </a:prstGeom>
          <a:solidFill>
            <a:srgbClr val="C4607B">
              <a:alpha val="18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412480" y="365760"/>
            <a:ext cx="28480" cy="28480"/>
          </a:xfrm>
          <a:prstGeom prst="ellipse">
            <a:avLst/>
          </a:prstGeom>
          <a:solidFill>
            <a:srgbClr val="C4607B">
              <a:alpha val="18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0" y="1005840"/>
            <a:ext cx="36469" cy="36469"/>
          </a:xfrm>
          <a:prstGeom prst="ellipse">
            <a:avLst/>
          </a:prstGeom>
          <a:solidFill>
            <a:srgbClr val="C4607B">
              <a:alpha val="1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0" y="4389120"/>
            <a:ext cx="37641" cy="37641"/>
          </a:xfrm>
          <a:prstGeom prst="ellipse">
            <a:avLst/>
          </a:prstGeom>
          <a:solidFill>
            <a:srgbClr val="C4607B">
              <a:alpha val="3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132320" y="4572000"/>
            <a:ext cx="23024" cy="23024"/>
          </a:xfrm>
          <a:prstGeom prst="ellipse">
            <a:avLst/>
          </a:prstGeom>
          <a:solidFill>
            <a:srgbClr val="C4607B">
              <a:alpha val="3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274320"/>
            <a:ext cx="24859" cy="24859"/>
          </a:xfrm>
          <a:prstGeom prst="ellipse">
            <a:avLst/>
          </a:prstGeom>
          <a:solidFill>
            <a:srgbClr val="C4607B">
              <a:alpha val="28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06240" y="4846320"/>
            <a:ext cx="47922" cy="47922"/>
          </a:xfrm>
          <a:prstGeom prst="ellipse">
            <a:avLst/>
          </a:prstGeom>
          <a:solidFill>
            <a:srgbClr val="C4607B">
              <a:alpha val="4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0EB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Execution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8B8D8"/>
                </a:solidFill>
              </a:rPr>
              <a:t>Typed schemas, validated AI, deterministic fallbacks, real persistence.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11480" y="1298448"/>
            <a:ext cx="2029968" cy="658368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1298448"/>
            <a:ext cx="45720" cy="658368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21208" y="13533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EBE3"/>
                </a:solidFill>
              </a:rPr>
              <a:t>Next.js 14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21208" y="16093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B8D8"/>
                </a:solidFill>
              </a:rPr>
              <a:t>App Router + server components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87752" y="1298448"/>
            <a:ext cx="2029968" cy="658368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587752" y="1298448"/>
            <a:ext cx="45720" cy="658368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697480" y="13533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EBE3"/>
                </a:solidFill>
              </a:rPr>
              <a:t>TypeScript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697480" y="16093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B8D8"/>
                </a:solidFill>
              </a:rPr>
              <a:t>End-to-end type safety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64024" y="1298448"/>
            <a:ext cx="2029968" cy="658368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64024" y="1298448"/>
            <a:ext cx="45720" cy="658368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73752" y="13533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EBE3"/>
                </a:solidFill>
              </a:rPr>
              <a:t>Groq AI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73752" y="16093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B8D8"/>
                </a:solidFill>
              </a:rPr>
              <a:t>llama-3.3-70b for strategy + eval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940296" y="1298448"/>
            <a:ext cx="2029968" cy="658368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940296" y="1298448"/>
            <a:ext cx="45720" cy="658368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050024" y="13533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EBE3"/>
                </a:solidFill>
              </a:rPr>
              <a:t>Zod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50024" y="16093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B8D8"/>
                </a:solidFill>
              </a:rPr>
              <a:t>Schema validation + retry logic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2048256"/>
            <a:ext cx="2029968" cy="658368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11480" y="2048256"/>
            <a:ext cx="45720" cy="658368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21208" y="21031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EBE3"/>
                </a:solidFill>
              </a:rPr>
              <a:t>Supabase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1208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B8D8"/>
                </a:solidFill>
              </a:rPr>
              <a:t>JSONB plans + local cache fallback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587752" y="2048256"/>
            <a:ext cx="2029968" cy="658368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587752" y="2048256"/>
            <a:ext cx="45720" cy="658368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697480" y="21031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EBE3"/>
                </a:solidFill>
              </a:rPr>
              <a:t>Three.js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697480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B8D8"/>
                </a:solidFill>
              </a:rPr>
              <a:t>Strategy Web / GoalTree canvas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64024" y="2048256"/>
            <a:ext cx="2029968" cy="658368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764024" y="2048256"/>
            <a:ext cx="45720" cy="658368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873752" y="21031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EBE3"/>
                </a:solidFill>
              </a:rPr>
              <a:t>Framer Motion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873752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B8D8"/>
                </a:solidFill>
              </a:rPr>
              <a:t>Staggered UI animation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940296" y="2048256"/>
            <a:ext cx="2029968" cy="658368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940296" y="2048256"/>
            <a:ext cx="45720" cy="658368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050024" y="21031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EBE3"/>
                </a:solidFill>
              </a:rPr>
              <a:t>OpenWeather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050024" y="2359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B8D8"/>
                </a:solidFill>
              </a:rPr>
              <a:t>Weather + geocoding for </a:t>
            </a:r>
            <a:r>
              <a:rPr lang="en-US" sz="900" dirty="0" err="1">
                <a:solidFill>
                  <a:srgbClr val="C8B8D8"/>
                </a:solidFill>
              </a:rPr>
              <a:t>Flowgram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1480" y="2907792"/>
            <a:ext cx="8558784" cy="1719072"/>
          </a:xfrm>
          <a:prstGeom prst="rect">
            <a:avLst/>
          </a:prstGeom>
          <a:solidFill>
            <a:srgbClr val="3A1A50"/>
          </a:solidFill>
          <a:ln w="12700">
            <a:solidFill>
              <a:srgbClr val="4A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94360" y="296265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AADA3"/>
                </a:solidFill>
              </a:rPr>
              <a:t>DATA FLOW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57200" y="3236976"/>
            <a:ext cx="9326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8EC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Assessments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389888" y="323697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4607B"/>
                </a:solidFill>
              </a:rPr>
              <a:t>→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2322576" y="3236976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8EC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/api/2/generate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3255264" y="323697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4607B"/>
                </a:solidFill>
              </a:rPr>
              <a:t>→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4187952" y="3236976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8EC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Groq + Zod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5120640" y="323697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4607B"/>
                </a:solidFill>
              </a:rPr>
              <a:t>→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053328" y="3236976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8EC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+ cache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986016" y="323697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4607B"/>
                </a:solidFill>
              </a:rPr>
              <a:t>→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7918704" y="3236976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8EC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Strategy Web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57200" y="3611880"/>
            <a:ext cx="9326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8B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Opportunity text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1389888" y="3611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4607B"/>
                </a:solidFill>
              </a:rPr>
              <a:t>→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2322576" y="361188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8B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/api/2/opportunity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255264" y="3611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4607B"/>
                </a:solidFill>
              </a:rPr>
              <a:t>→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4187951" y="3611880"/>
            <a:ext cx="98909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8B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StrategyPlan context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120640" y="3611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4607B"/>
                </a:solidFill>
              </a:rPr>
              <a:t>→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6053328" y="361188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8B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Groq fallback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6986016" y="3611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4607B"/>
                </a:solidFill>
              </a:rPr>
              <a:t>→</a:t>
            </a:r>
            <a:endParaRPr lang="en-US" sz="1400" dirty="0"/>
          </a:p>
        </p:txBody>
      </p:sp>
      <p:sp>
        <p:nvSpPr>
          <p:cNvPr id="65" name="Text 63"/>
          <p:cNvSpPr/>
          <p:nvPr/>
        </p:nvSpPr>
        <p:spPr>
          <a:xfrm>
            <a:off x="7918704" y="361188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8B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94360" y="4041648"/>
            <a:ext cx="7955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6B5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Flowgram</a:t>
            </a:r>
            <a:r>
              <a:rPr lang="en-US" sz="900" dirty="0">
                <a:solidFill>
                  <a:srgbClr val="6B5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/api/1/events  ·  /items  ·  /routines  ·  /weather  ·  /free-time  ·  /ics-import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11480" y="4709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C8B8D8"/>
                </a:solidFill>
              </a:rPr>
              <a:t>TECHNICAL EXECUTION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B23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VISR is different.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5A7A"/>
                </a:solidFill>
              </a:rPr>
              <a:t>Strategy clarity + tradeoff analysis + daily execution in one loop.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261872"/>
            <a:ext cx="1737360" cy="347472"/>
          </a:xfrm>
          <a:prstGeom prst="rect">
            <a:avLst/>
          </a:prstGeom>
          <a:solidFill>
            <a:srgbClr val="D8D0C4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61872"/>
            <a:ext cx="16642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1040"/>
                </a:solidFill>
              </a:rPr>
              <a:t>Capability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1261872"/>
            <a:ext cx="1097280" cy="347472"/>
          </a:xfrm>
          <a:prstGeom prst="rect">
            <a:avLst/>
          </a:prstGeom>
          <a:solidFill>
            <a:srgbClr val="D8D0C4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86000" y="1261872"/>
            <a:ext cx="10241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1040"/>
                </a:solidFill>
              </a:rPr>
              <a:t>Task managers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429000" y="1261872"/>
            <a:ext cx="1097280" cy="347472"/>
          </a:xfrm>
          <a:prstGeom prst="rect">
            <a:avLst/>
          </a:prstGeom>
          <a:solidFill>
            <a:srgbClr val="D8D0C4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74720" y="1261872"/>
            <a:ext cx="10241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1040"/>
                </a:solidFill>
              </a:rPr>
              <a:t>Calendars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17720" y="1261872"/>
            <a:ext cx="1097280" cy="347472"/>
          </a:xfrm>
          <a:prstGeom prst="rect">
            <a:avLst/>
          </a:prstGeom>
          <a:solidFill>
            <a:srgbClr val="D8D0C4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3440" y="1261872"/>
            <a:ext cx="10241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1040"/>
                </a:solidFill>
              </a:rPr>
              <a:t>AI chatbots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806440" y="1261872"/>
            <a:ext cx="1097280" cy="347472"/>
          </a:xfrm>
          <a:prstGeom prst="rect">
            <a:avLst/>
          </a:prstGeom>
          <a:solidFill>
            <a:srgbClr val="D8D0C4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852160" y="1261872"/>
            <a:ext cx="10241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1040"/>
                </a:solidFill>
              </a:rPr>
              <a:t>Notion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040880" y="1261872"/>
            <a:ext cx="1737360" cy="347472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086600" y="1261872"/>
            <a:ext cx="16642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VISR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1480" y="1627632"/>
            <a:ext cx="173736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1627632"/>
            <a:ext cx="1664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1040"/>
                </a:solidFill>
              </a:rPr>
              <a:t>Strategy clarity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40280" y="1627632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286000" y="1627632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Low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429000" y="1627632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74720" y="1627632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Low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17720" y="1627632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63440" y="1627632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Medium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806440" y="1627632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852160" y="1627632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Medium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040880" y="1627632"/>
            <a:ext cx="1737360" cy="420624"/>
          </a:xfrm>
          <a:prstGeom prst="rect">
            <a:avLst/>
          </a:prstGeom>
          <a:solidFill>
            <a:srgbClr val="F0E8F5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086600" y="1627632"/>
            <a:ext cx="1664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354"/>
                </a:solidFill>
              </a:rPr>
              <a:t>High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1480" y="2066544"/>
            <a:ext cx="173736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2066544"/>
            <a:ext cx="1664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1040"/>
                </a:solidFill>
              </a:rPr>
              <a:t>Visual strategy map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40280" y="2066544"/>
            <a:ext cx="109728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286000" y="2066544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No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429000" y="2066544"/>
            <a:ext cx="109728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474720" y="2066544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No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17720" y="2066544"/>
            <a:ext cx="109728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663440" y="2066544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No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806440" y="2066544"/>
            <a:ext cx="109728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852160" y="2066544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Manual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040880" y="2066544"/>
            <a:ext cx="1737360" cy="420624"/>
          </a:xfrm>
          <a:prstGeom prst="rect">
            <a:avLst/>
          </a:prstGeom>
          <a:solidFill>
            <a:srgbClr val="F0E8F5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086600" y="2066544"/>
            <a:ext cx="1664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354"/>
                </a:solidFill>
              </a:rPr>
              <a:t>Built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11480" y="2505456"/>
            <a:ext cx="173736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57200" y="2505456"/>
            <a:ext cx="1664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1040"/>
                </a:solidFill>
              </a:rPr>
              <a:t>Bottleneck detection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240280" y="2505456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286000" y="2505456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No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429000" y="2505456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474720" y="2505456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No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617720" y="2505456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663440" y="2505456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Suggested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806440" y="2505456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852160" y="2505456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Manual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040880" y="2505456"/>
            <a:ext cx="1737360" cy="420624"/>
          </a:xfrm>
          <a:prstGeom prst="rect">
            <a:avLst/>
          </a:prstGeom>
          <a:solidFill>
            <a:srgbClr val="F0E8F5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086600" y="2505456"/>
            <a:ext cx="1664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354"/>
                </a:solidFill>
              </a:rPr>
              <a:t>Built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11480" y="2944368"/>
            <a:ext cx="173736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57200" y="2944368"/>
            <a:ext cx="1664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1040"/>
                </a:solidFill>
              </a:rPr>
              <a:t>Cut / keep decisions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240280" y="2944368"/>
            <a:ext cx="109728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2286000" y="2944368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No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3429000" y="2944368"/>
            <a:ext cx="109728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474720" y="2944368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No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617720" y="2944368"/>
            <a:ext cx="109728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663440" y="2944368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Suggested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806440" y="2944368"/>
            <a:ext cx="109728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852160" y="2944368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Manual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7040880" y="2944368"/>
            <a:ext cx="1737360" cy="420624"/>
          </a:xfrm>
          <a:prstGeom prst="rect">
            <a:avLst/>
          </a:prstGeom>
          <a:solidFill>
            <a:srgbClr val="F0E8F5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7086600" y="2944368"/>
            <a:ext cx="1664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354"/>
                </a:solidFill>
              </a:rPr>
              <a:t>Built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11480" y="3383280"/>
            <a:ext cx="173736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457200" y="3383280"/>
            <a:ext cx="1664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1040"/>
                </a:solidFill>
              </a:rPr>
              <a:t>Opportunity validation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240280" y="3383280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2286000" y="3383280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No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3429000" y="3383280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3474720" y="3383280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No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4617720" y="3383280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4663440" y="3383280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One-off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5806440" y="3383280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5852160" y="3383280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No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7040880" y="3383280"/>
            <a:ext cx="1737360" cy="420624"/>
          </a:xfrm>
          <a:prstGeom prst="rect">
            <a:avLst/>
          </a:prstGeom>
          <a:solidFill>
            <a:srgbClr val="F0E8F5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7086600" y="3383280"/>
            <a:ext cx="1664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354"/>
                </a:solidFill>
              </a:rPr>
              <a:t>Built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411480" y="3822192"/>
            <a:ext cx="173736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457200" y="3822192"/>
            <a:ext cx="1664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1040"/>
                </a:solidFill>
              </a:rPr>
              <a:t>Daily execution layer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2240280" y="3822192"/>
            <a:ext cx="109728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2286000" y="3822192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Partial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3429000" y="3822192"/>
            <a:ext cx="109728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3474720" y="3822192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High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617720" y="3822192"/>
            <a:ext cx="109728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4663440" y="3822192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No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5806440" y="3822192"/>
            <a:ext cx="1097280" cy="420624"/>
          </a:xfrm>
          <a:prstGeom prst="rect">
            <a:avLst/>
          </a:prstGeom>
          <a:solidFill>
            <a:srgbClr val="EDE8DC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5852160" y="3822192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Manual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7040880" y="3822192"/>
            <a:ext cx="1737360" cy="420624"/>
          </a:xfrm>
          <a:prstGeom prst="rect">
            <a:avLst/>
          </a:prstGeom>
          <a:solidFill>
            <a:srgbClr val="F0E8F5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7086600" y="3822192"/>
            <a:ext cx="1664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354"/>
                </a:solidFill>
              </a:rPr>
              <a:t>Built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411480" y="4261104"/>
            <a:ext cx="173736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457200" y="4261104"/>
            <a:ext cx="1664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1040"/>
                </a:solidFill>
              </a:rPr>
              <a:t>Concrete next actions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2240280" y="4261104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2286000" y="4261104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Manual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3429000" y="4261104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3474720" y="4261104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Manual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4617720" y="4261104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4663440" y="4261104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Suggested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5806440" y="4261104"/>
            <a:ext cx="1097280" cy="420624"/>
          </a:xfrm>
          <a:prstGeom prst="rect">
            <a:avLst/>
          </a:prstGeom>
          <a:solidFill>
            <a:srgbClr val="F5F0E8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5852160" y="4261104"/>
            <a:ext cx="10241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5A7A"/>
                </a:solidFill>
              </a:rPr>
              <a:t>Manual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7040880" y="4261104"/>
            <a:ext cx="1737360" cy="420624"/>
          </a:xfrm>
          <a:prstGeom prst="rect">
            <a:avLst/>
          </a:prstGeom>
          <a:solidFill>
            <a:srgbClr val="F0E8F5"/>
          </a:solidFill>
          <a:ln w="63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7086600" y="4261104"/>
            <a:ext cx="16642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2354"/>
                </a:solidFill>
              </a:rPr>
              <a:t>Built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411480" y="4709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6B5A7A"/>
                </a:solidFill>
              </a:rPr>
              <a:t>DIFFERENTIATION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B23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built. What is next.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5A7A"/>
                </a:solidFill>
              </a:rPr>
              <a:t>The MVP proves the loop. The roadmap deepens integration.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7240" y="1993392"/>
            <a:ext cx="7589520" cy="0"/>
          </a:xfrm>
          <a:prstGeom prst="line">
            <a:avLst/>
          </a:prstGeom>
          <a:noFill/>
          <a:ln w="1905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00200" y="1847088"/>
            <a:ext cx="292608" cy="292608"/>
          </a:xfrm>
          <a:prstGeom prst="ellipse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389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B2354"/>
                </a:solidFill>
              </a:rPr>
              <a:t>MVP — Built Now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1480" y="2267712"/>
            <a:ext cx="2651760" cy="2468880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2267712"/>
            <a:ext cx="2651760" cy="54864"/>
          </a:xfrm>
          <a:prstGeom prst="rect">
            <a:avLst/>
          </a:prstGeom>
          <a:solidFill>
            <a:srgbClr val="6B2354"/>
          </a:solidFill>
          <a:ln w="12700">
            <a:solidFill>
              <a:srgbClr val="6B2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35915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354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Strategy Web / GoalTree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267919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354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Dashboard: bottleneck, alignment,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cut list, risks, Next 7 days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299923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354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Today Focus overlay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02920" y="33192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354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Opportunity Validation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36393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354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Assessments + AI generation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(Groq + Zod + deterministic fallback)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395935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354"/>
                </a:solidFill>
              </a:rPr>
              <a:t>· </a:t>
            </a:r>
            <a:r>
              <a:rPr lang="en-US" sz="950" dirty="0" err="1">
                <a:solidFill>
                  <a:srgbClr val="6B5A7A"/>
                </a:solidFill>
              </a:rPr>
              <a:t>Flowgram</a:t>
            </a:r>
            <a:r>
              <a:rPr lang="en-US" sz="950" dirty="0">
                <a:solidFill>
                  <a:srgbClr val="6B5A7A"/>
                </a:solidFill>
              </a:rPr>
              <a:t>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Week View, Notes Hub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2920" y="427939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2354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Pillar Kanban + AI task generation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34840" y="1847088"/>
            <a:ext cx="292608" cy="292608"/>
          </a:xfrm>
          <a:prstGeom prst="ellipse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46120" y="1389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AADA3"/>
                </a:solidFill>
              </a:rPr>
              <a:t>Next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246120" y="2267712"/>
            <a:ext cx="2651760" cy="2468880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246120" y="2267712"/>
            <a:ext cx="2651760" cy="54864"/>
          </a:xfrm>
          <a:prstGeom prst="rect">
            <a:avLst/>
          </a:prstGeom>
          <a:solidFill>
            <a:srgbClr val="5AADA3"/>
          </a:solidFill>
          <a:ln w="12700">
            <a:solidFill>
              <a:srgbClr val="5AAD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337560" y="235915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ADA3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Auto-schedule strategy actions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5A7A"/>
                </a:solidFill>
              </a:rPr>
              <a:t>into </a:t>
            </a:r>
            <a:r>
              <a:rPr lang="en-US" sz="950" dirty="0" err="1">
                <a:solidFill>
                  <a:srgbClr val="6B5A7A"/>
                </a:solidFill>
              </a:rPr>
              <a:t>Flowgram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37560" y="267919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ADA3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Compact Strategy Brief drawer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37560" y="299923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ADA3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Authenticated saved sessions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37560" y="33192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ADA3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Deeper calendar integration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37560" y="36393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ADA3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Richer node drill-down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37560" y="395935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ADA3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Mobile optimisation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337560" y="427939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ADA3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Shareable plans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269480" y="1847088"/>
            <a:ext cx="292608" cy="292608"/>
          </a:xfrm>
          <a:prstGeom prst="ellipse">
            <a:avLst/>
          </a:prstGeom>
          <a:solidFill>
            <a:srgbClr val="9E3D5A"/>
          </a:solidFill>
          <a:ln w="12700">
            <a:solidFill>
              <a:srgbClr val="9E3D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80760" y="1389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9E3D5A"/>
                </a:solidFill>
              </a:rPr>
              <a:t>V1 Launch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080760" y="2267712"/>
            <a:ext cx="2651760" cy="2468880"/>
          </a:xfrm>
          <a:prstGeom prst="rect">
            <a:avLst/>
          </a:prstGeom>
          <a:solidFill>
            <a:srgbClr val="EDE8DC"/>
          </a:solidFill>
          <a:ln w="12700">
            <a:solidFill>
              <a:srgbClr val="D8D0C4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080760" y="2267712"/>
            <a:ext cx="2651760" cy="54864"/>
          </a:xfrm>
          <a:prstGeom prst="rect">
            <a:avLst/>
          </a:prstGeom>
          <a:solidFill>
            <a:srgbClr val="9E3D5A"/>
          </a:solidFill>
          <a:ln w="12700">
            <a:solidFill>
              <a:srgbClr val="9E3D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172200" y="235915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3D5A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Semester-aware planning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267919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3D5A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University partnerships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172200" y="299923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3D5A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Advisor / mentor views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33192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3D5A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Peer benchmarks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6393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3D5A"/>
                </a:solidFill>
              </a:rPr>
              <a:t>· </a:t>
            </a:r>
            <a:r>
              <a:rPr lang="en-US" sz="950" dirty="0">
                <a:solidFill>
                  <a:srgbClr val="6B5A7A"/>
                </a:solidFill>
              </a:rPr>
              <a:t>Advisor integrations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11480" y="4709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6B5A7A"/>
                </a:solidFill>
              </a:rPr>
              <a:t>ROADMAP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0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37"/>
          <p:cNvSpPr/>
          <p:nvPr/>
        </p:nvSpPr>
        <p:spPr>
          <a:xfrm>
            <a:off x="548640" y="1170432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460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 with intention.</a:t>
            </a:r>
            <a:endParaRPr lang="en-US" sz="4200" dirty="0"/>
          </a:p>
        </p:txBody>
      </p:sp>
      <p:sp>
        <p:nvSpPr>
          <p:cNvPr id="2" name="Shape 0"/>
          <p:cNvSpPr/>
          <p:nvPr/>
        </p:nvSpPr>
        <p:spPr>
          <a:xfrm>
            <a:off x="274320" y="182880"/>
            <a:ext cx="43362" cy="43362"/>
          </a:xfrm>
          <a:prstGeom prst="ellipse">
            <a:avLst/>
          </a:prstGeom>
          <a:solidFill>
            <a:srgbClr val="C4607B">
              <a:alpha val="2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0" y="731520"/>
            <a:ext cx="36233" cy="36233"/>
          </a:xfrm>
          <a:prstGeom prst="ellipse">
            <a:avLst/>
          </a:prstGeom>
          <a:solidFill>
            <a:srgbClr val="C4607B">
              <a:alpha val="26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4480560"/>
            <a:ext cx="35527" cy="35527"/>
          </a:xfrm>
          <a:prstGeom prst="ellipse">
            <a:avLst/>
          </a:prstGeom>
          <a:solidFill>
            <a:srgbClr val="C4607B">
              <a:alpha val="31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0" y="4663440"/>
            <a:ext cx="35578" cy="35578"/>
          </a:xfrm>
          <a:prstGeom prst="ellipse">
            <a:avLst/>
          </a:prstGeom>
          <a:solidFill>
            <a:srgbClr val="C4607B">
              <a:alpha val="23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412480" y="365760"/>
            <a:ext cx="44119" cy="44119"/>
          </a:xfrm>
          <a:prstGeom prst="ellipse">
            <a:avLst/>
          </a:prstGeom>
          <a:solidFill>
            <a:srgbClr val="C4607B">
              <a:alpha val="33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0" y="1005840"/>
            <a:ext cx="27750" cy="27750"/>
          </a:xfrm>
          <a:prstGeom prst="ellipse">
            <a:avLst/>
          </a:prstGeom>
          <a:solidFill>
            <a:srgbClr val="C4607B">
              <a:alpha val="3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0" y="4389120"/>
            <a:ext cx="23111" cy="23111"/>
          </a:xfrm>
          <a:prstGeom prst="ellipse">
            <a:avLst/>
          </a:prstGeom>
          <a:solidFill>
            <a:srgbClr val="C4607B">
              <a:alpha val="3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132320" y="4572000"/>
            <a:ext cx="26594" cy="26594"/>
          </a:xfrm>
          <a:prstGeom prst="ellipse">
            <a:avLst/>
          </a:prstGeom>
          <a:solidFill>
            <a:srgbClr val="C4607B">
              <a:alpha val="35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274320"/>
            <a:ext cx="31192" cy="31192"/>
          </a:xfrm>
          <a:prstGeom prst="ellipse">
            <a:avLst/>
          </a:prstGeom>
          <a:solidFill>
            <a:srgbClr val="C4607B">
              <a:alpha val="21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06240" y="4846320"/>
            <a:ext cx="56942" cy="56942"/>
          </a:xfrm>
          <a:prstGeom prst="ellipse">
            <a:avLst/>
          </a:prstGeom>
          <a:solidFill>
            <a:srgbClr val="C4607B">
              <a:alpha val="21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37160" y="2560320"/>
            <a:ext cx="37341" cy="37341"/>
          </a:xfrm>
          <a:prstGeom prst="ellipse">
            <a:avLst/>
          </a:prstGeom>
          <a:solidFill>
            <a:srgbClr val="C4607B">
              <a:alpha val="36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869680" y="2194560"/>
            <a:ext cx="56114" cy="56114"/>
          </a:xfrm>
          <a:prstGeom prst="ellipse">
            <a:avLst/>
          </a:prstGeom>
          <a:solidFill>
            <a:srgbClr val="C4607B">
              <a:alpha val="23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834640" y="4297680"/>
            <a:ext cx="27557" cy="27557"/>
          </a:xfrm>
          <a:prstGeom prst="ellipse">
            <a:avLst/>
          </a:prstGeom>
          <a:solidFill>
            <a:srgbClr val="C4607B">
              <a:alpha val="18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00800" y="182880"/>
            <a:ext cx="27966" cy="27966"/>
          </a:xfrm>
          <a:prstGeom prst="ellipse">
            <a:avLst/>
          </a:prstGeom>
          <a:solidFill>
            <a:srgbClr val="C4607B">
              <a:alpha val="29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05840" y="3200400"/>
            <a:ext cx="41823" cy="41823"/>
          </a:xfrm>
          <a:prstGeom prst="ellipse">
            <a:avLst/>
          </a:prstGeom>
          <a:solidFill>
            <a:srgbClr val="C4607B">
              <a:alpha val="28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046720" y="2926080"/>
            <a:ext cx="50690" cy="50690"/>
          </a:xfrm>
          <a:prstGeom prst="ellipse">
            <a:avLst/>
          </a:prstGeom>
          <a:solidFill>
            <a:srgbClr val="C4607B">
              <a:alpha val="31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760720" y="4754880"/>
            <a:ext cx="23784" cy="23784"/>
          </a:xfrm>
          <a:prstGeom prst="ellipse">
            <a:avLst/>
          </a:prstGeom>
          <a:solidFill>
            <a:srgbClr val="C4607B">
              <a:alpha val="2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651760" y="548640"/>
            <a:ext cx="56217" cy="56217"/>
          </a:xfrm>
          <a:prstGeom prst="ellipse">
            <a:avLst/>
          </a:prstGeom>
          <a:solidFill>
            <a:srgbClr val="C4607B">
              <a:alpha val="26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09360" y="4480560"/>
            <a:ext cx="25653" cy="25653"/>
          </a:xfrm>
          <a:prstGeom prst="ellipse">
            <a:avLst/>
          </a:prstGeom>
          <a:solidFill>
            <a:srgbClr val="C4607B">
              <a:alpha val="34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0" y="91440"/>
            <a:ext cx="27298" cy="27298"/>
          </a:xfrm>
          <a:prstGeom prst="ellipse">
            <a:avLst/>
          </a:prstGeom>
          <a:solidFill>
            <a:srgbClr val="C4607B">
              <a:alpha val="32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8640" y="1371600"/>
            <a:ext cx="47913" cy="47913"/>
          </a:xfrm>
          <a:prstGeom prst="ellipse">
            <a:avLst/>
          </a:prstGeom>
          <a:solidFill>
            <a:srgbClr val="C4607B">
              <a:alpha val="35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321040" y="1645920"/>
            <a:ext cx="23572" cy="23572"/>
          </a:xfrm>
          <a:prstGeom prst="ellipse">
            <a:avLst/>
          </a:prstGeom>
          <a:solidFill>
            <a:srgbClr val="C4607B">
              <a:alpha val="27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026664" y="1819656"/>
            <a:ext cx="1545336" cy="1106424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 flipH="1">
            <a:off x="4539928" y="2083002"/>
            <a:ext cx="1677991" cy="774679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011680" y="2926080"/>
            <a:ext cx="2560320" cy="64008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572000" y="2926080"/>
            <a:ext cx="2560320" cy="9144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 flipH="1">
            <a:off x="3541812" y="3054096"/>
            <a:ext cx="947892" cy="969264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0" y="2926080"/>
            <a:ext cx="1371600" cy="1508760"/>
          </a:xfrm>
          <a:prstGeom prst="line">
            <a:avLst/>
          </a:prstGeom>
          <a:noFill/>
          <a:ln w="6350">
            <a:solidFill>
              <a:srgbClr val="C4607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794760" y="2148840"/>
            <a:ext cx="1554480" cy="1554480"/>
          </a:xfrm>
          <a:prstGeom prst="ellipse">
            <a:avLst/>
          </a:prstGeom>
          <a:solidFill>
            <a:srgbClr val="C4607B">
              <a:alpha val="18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250131" y="2604211"/>
            <a:ext cx="643738" cy="643738"/>
          </a:xfrm>
          <a:prstGeom prst="ellipse">
            <a:avLst/>
          </a:prstGeom>
          <a:solidFill>
            <a:srgbClr val="C4607B"/>
          </a:solidFill>
          <a:ln w="12700">
            <a:solidFill>
              <a:srgbClr val="C4607B"/>
            </a:solidFill>
            <a:prstDash val="solid"/>
          </a:ln>
          <a:effectLst>
            <a:outerShdw blurRad="101600" dist="254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2940137" y="1745325"/>
            <a:ext cx="292608" cy="292608"/>
          </a:xfrm>
          <a:prstGeom prst="ellipse">
            <a:avLst/>
          </a:prstGeom>
          <a:solidFill>
            <a:srgbClr val="C4607B">
              <a:alpha val="8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085264" y="1885882"/>
            <a:ext cx="292608" cy="292608"/>
          </a:xfrm>
          <a:prstGeom prst="ellipse">
            <a:avLst/>
          </a:prstGeom>
          <a:solidFill>
            <a:srgbClr val="C4607B">
              <a:alpha val="8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783080" y="2750661"/>
            <a:ext cx="292608" cy="292608"/>
          </a:xfrm>
          <a:prstGeom prst="ellipse">
            <a:avLst/>
          </a:prstGeom>
          <a:solidFill>
            <a:srgbClr val="C4607B">
              <a:alpha val="8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986016" y="2779776"/>
            <a:ext cx="292608" cy="292608"/>
          </a:xfrm>
          <a:prstGeom prst="ellipse">
            <a:avLst/>
          </a:prstGeom>
          <a:solidFill>
            <a:srgbClr val="C4607B">
              <a:alpha val="8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378641" y="3936492"/>
            <a:ext cx="292608" cy="292608"/>
          </a:xfrm>
          <a:prstGeom prst="ellipse">
            <a:avLst/>
          </a:prstGeom>
          <a:solidFill>
            <a:srgbClr val="C4607B">
              <a:alpha val="8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797296" y="4288536"/>
            <a:ext cx="292608" cy="292608"/>
          </a:xfrm>
          <a:prstGeom prst="ellipse">
            <a:avLst/>
          </a:prstGeom>
          <a:solidFill>
            <a:srgbClr val="C4607B">
              <a:alpha val="80000"/>
            </a:srgbClr>
          </a:solidFill>
          <a:ln w="12700">
            <a:solidFill>
              <a:srgbClr val="C460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48640" y="5029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0EB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Stop juggling everything.</a:t>
            </a:r>
            <a:endParaRPr lang="en-US" sz="4200" dirty="0"/>
          </a:p>
        </p:txBody>
      </p:sp>
      <p:sp>
        <p:nvSpPr>
          <p:cNvPr id="40" name="Text 38"/>
          <p:cNvSpPr/>
          <p:nvPr/>
        </p:nvSpPr>
        <p:spPr>
          <a:xfrm>
            <a:off x="2377440" y="201168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0EBE3"/>
                </a:solidFill>
              </a:rPr>
              <a:t>→  Choose the destination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377440" y="233172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8B8D8"/>
                </a:solidFill>
              </a:rPr>
              <a:t>→  See the strategy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377440" y="265176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0EBE3"/>
                </a:solidFill>
              </a:rPr>
              <a:t>→  Cut the noise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377440" y="29718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8B8D8"/>
                </a:solidFill>
              </a:rPr>
              <a:t>→  Validate new yeses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2377440" y="32918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0EBE3"/>
                </a:solidFill>
              </a:rPr>
              <a:t>→  Move through the week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1440" y="464515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581912" y="464515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3072384" y="464515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562856" y="464515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053328" y="464515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7543800" y="464515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1325</Words>
  <Application>Microsoft Office PowerPoint</Application>
  <PresentationFormat>On-screen Show (16:9)</PresentationFormat>
  <Paragraphs>331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Courier New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Pathwise</dc:title>
  <dc:subject>PptxGenJS Presentation</dc:subject>
  <dc:creator>PptxGenJS</dc:creator>
  <cp:lastModifiedBy>Muhammad Ahmad</cp:lastModifiedBy>
  <cp:revision>3</cp:revision>
  <dcterms:created xsi:type="dcterms:W3CDTF">2026-05-24T11:47:05Z</dcterms:created>
  <dcterms:modified xsi:type="dcterms:W3CDTF">2026-05-24T15:00:51Z</dcterms:modified>
</cp:coreProperties>
</file>